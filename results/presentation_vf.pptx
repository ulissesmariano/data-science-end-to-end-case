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7"/>
  </p:notesMasterIdLst>
  <p:sldIdLst>
    <p:sldId id="256" r:id="rId2"/>
    <p:sldId id="262" r:id="rId3"/>
    <p:sldId id="257" r:id="rId4"/>
    <p:sldId id="264" r:id="rId5"/>
    <p:sldId id="258" r:id="rId6"/>
    <p:sldId id="263" r:id="rId7"/>
    <p:sldId id="267" r:id="rId8"/>
    <p:sldId id="313" r:id="rId9"/>
    <p:sldId id="261" r:id="rId10"/>
    <p:sldId id="312" r:id="rId11"/>
    <p:sldId id="260" r:id="rId12"/>
    <p:sldId id="265" r:id="rId13"/>
    <p:sldId id="266" r:id="rId14"/>
    <p:sldId id="314" r:id="rId15"/>
    <p:sldId id="259" r:id="rId16"/>
  </p:sldIdLst>
  <p:sldSz cx="9144000" cy="5143500" type="screen16x9"/>
  <p:notesSz cx="6858000" cy="9144000"/>
  <p:embeddedFontLst>
    <p:embeddedFont>
      <p:font typeface="Archivo" panose="020B0604020202020204" charset="0"/>
      <p:regular r:id="rId18"/>
      <p:bold r:id="rId19"/>
      <p:italic r:id="rId20"/>
      <p:boldItalic r:id="rId21"/>
    </p:embeddedFont>
    <p:embeddedFont>
      <p:font typeface="IBM Plex Mono" panose="020B0509050203000203" pitchFamily="49" charset="0"/>
      <p:regular r:id="rId22"/>
      <p:bold r:id="rId23"/>
      <p:italic r:id="rId24"/>
      <p:boldItalic r:id="rId25"/>
    </p:embeddedFont>
    <p:embeddedFont>
      <p:font typeface="Nunito Light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C4CE56-C979-4C8F-86EA-88DA58A280E8}">
  <a:tblStyle styleId="{05C4CE56-C979-4C8F-86EA-88DA58A280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8FC37A1-47DA-4C5B-A851-651736754C8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6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0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92a81341b2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92a81341b2_2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92a81341b2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92a81341b2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92a81341b2_2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92a81341b2_2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92a81341b2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92a81341b2_2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92581b7e23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92581b7e23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92b8f97649_1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92b8f97649_1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824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92a81341b2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92a81341b2_2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5269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92a81341b2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92a81341b2_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92581b7e2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92581b7e2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92581b7e2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92581b7e2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2026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92a81341b2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92a81341b2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68674" y="-322162"/>
            <a:ext cx="9371984" cy="3960713"/>
            <a:chOff x="-268674" y="-322162"/>
            <a:chExt cx="9371984" cy="396071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25762" y="151638"/>
              <a:ext cx="8692477" cy="1388125"/>
              <a:chOff x="225762" y="151638"/>
              <a:chExt cx="8692477" cy="138812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55037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 flipH="1">
                <a:off x="225762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71875" y="1504250"/>
              <a:ext cx="2700599" cy="5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4">
              <a:alphaModFix/>
            </a:blip>
            <a:srcRect t="53278"/>
            <a:stretch/>
          </p:blipFill>
          <p:spPr>
            <a:xfrm rot="10800000">
              <a:off x="-268674" y="2723000"/>
              <a:ext cx="1861925" cy="915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92572" y="-370975"/>
              <a:ext cx="1861925" cy="195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902336" y="2352475"/>
            <a:ext cx="5067600" cy="1047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042402" y="1436575"/>
            <a:ext cx="1995000" cy="9159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902324" y="3344388"/>
            <a:ext cx="5067600" cy="375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063350"/>
            <a:ext cx="77040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8" name="Google Shape;28;p4"/>
          <p:cNvGrpSpPr/>
          <p:nvPr/>
        </p:nvGrpSpPr>
        <p:grpSpPr>
          <a:xfrm>
            <a:off x="117372" y="1337863"/>
            <a:ext cx="8848827" cy="2467774"/>
            <a:chOff x="117372" y="1337863"/>
            <a:chExt cx="8848827" cy="2467774"/>
          </a:xfrm>
        </p:grpSpPr>
        <p:pic>
          <p:nvPicPr>
            <p:cNvPr id="29" name="Google Shape;29;p4"/>
            <p:cNvPicPr preferRelativeResize="0"/>
            <p:nvPr/>
          </p:nvPicPr>
          <p:blipFill rotWithShape="1">
            <a:blip r:embed="rId2">
              <a:alphaModFix/>
            </a:blip>
            <a:srcRect b="23112"/>
            <a:stretch/>
          </p:blipFill>
          <p:spPr>
            <a:xfrm rot="-5400000">
              <a:off x="7499961" y="2339387"/>
              <a:ext cx="2467751" cy="464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885049" y="2340284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5083765" y="2582715"/>
            <a:ext cx="26133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1462395" y="2582715"/>
            <a:ext cx="26133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5083759" y="2247315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1462170" y="2247315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203824" y="197287"/>
            <a:ext cx="8755913" cy="4831913"/>
            <a:chOff x="203824" y="197287"/>
            <a:chExt cx="8755913" cy="4831913"/>
          </a:xfrm>
        </p:grpSpPr>
        <p:pic>
          <p:nvPicPr>
            <p:cNvPr id="39" name="Google Shape;39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7284074" y="484825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03824" y="3641075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" name="Google Shape;41;p5"/>
          <p:cNvGrpSpPr/>
          <p:nvPr/>
        </p:nvGrpSpPr>
        <p:grpSpPr>
          <a:xfrm>
            <a:off x="720000" y="146984"/>
            <a:ext cx="8023949" cy="4844116"/>
            <a:chOff x="720000" y="146984"/>
            <a:chExt cx="8023949" cy="4844116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23436"/>
            <a:stretch/>
          </p:blipFill>
          <p:spPr>
            <a:xfrm>
              <a:off x="720000" y="4457700"/>
              <a:ext cx="3363601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5"/>
            <p:cNvPicPr preferRelativeResize="0"/>
            <p:nvPr/>
          </p:nvPicPr>
          <p:blipFill rotWithShape="1">
            <a:blip r:embed="rId4">
              <a:alphaModFix/>
            </a:blip>
            <a:srcRect t="27541" r="2657"/>
            <a:stretch/>
          </p:blipFill>
          <p:spPr>
            <a:xfrm>
              <a:off x="5245100" y="146984"/>
              <a:ext cx="3498849" cy="53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720000" y="794275"/>
            <a:ext cx="4855200" cy="9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ubTitle" idx="1"/>
          </p:nvPr>
        </p:nvSpPr>
        <p:spPr>
          <a:xfrm>
            <a:off x="720000" y="1986050"/>
            <a:ext cx="4855200" cy="20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59" name="Google Shape;59;p7"/>
          <p:cNvGrpSpPr/>
          <p:nvPr/>
        </p:nvGrpSpPr>
        <p:grpSpPr>
          <a:xfrm>
            <a:off x="182702" y="-234952"/>
            <a:ext cx="9024798" cy="5339105"/>
            <a:chOff x="182702" y="-234952"/>
            <a:chExt cx="9024798" cy="5339105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7298613" y="-283715"/>
              <a:ext cx="1860124" cy="19576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" name="Google Shape;61;p7"/>
            <p:cNvGrpSpPr/>
            <p:nvPr/>
          </p:nvGrpSpPr>
          <p:grpSpPr>
            <a:xfrm>
              <a:off x="182702" y="4549372"/>
              <a:ext cx="1318665" cy="554781"/>
              <a:chOff x="184150" y="4403675"/>
              <a:chExt cx="1412300" cy="594175"/>
            </a:xfrm>
          </p:grpSpPr>
          <p:pic>
            <p:nvPicPr>
              <p:cNvPr id="62" name="Google Shape;62;p7"/>
              <p:cNvPicPr preferRelativeResize="0"/>
              <p:nvPr/>
            </p:nvPicPr>
            <p:blipFill rotWithShape="1">
              <a:blip r:embed="rId3">
                <a:alphaModFix/>
              </a:blip>
              <a:srcRect r="51777"/>
              <a:stretch/>
            </p:blipFill>
            <p:spPr>
              <a:xfrm rot="10800000">
                <a:off x="184150" y="4534925"/>
                <a:ext cx="1190051" cy="462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" name="Google Shape;63;p7"/>
              <p:cNvPicPr preferRelativeResize="0"/>
              <p:nvPr/>
            </p:nvPicPr>
            <p:blipFill rotWithShape="1">
              <a:blip r:embed="rId3">
                <a:alphaModFix/>
              </a:blip>
              <a:srcRect t="-2240" r="42772" b="2230"/>
              <a:stretch/>
            </p:blipFill>
            <p:spPr>
              <a:xfrm rot="10800000">
                <a:off x="184151" y="4403675"/>
                <a:ext cx="1412299" cy="462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64" name="Google Shape;64;p7"/>
          <p:cNvPicPr preferRelativeResize="0"/>
          <p:nvPr/>
        </p:nvPicPr>
        <p:blipFill rotWithShape="1">
          <a:blip r:embed="rId4">
            <a:alphaModFix/>
          </a:blip>
          <a:srcRect l="1942" b="8692"/>
          <a:stretch/>
        </p:blipFill>
        <p:spPr>
          <a:xfrm flipH="1">
            <a:off x="5295899" y="3831200"/>
            <a:ext cx="3854451" cy="13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" name="Google Shape;67;p8"/>
          <p:cNvGrpSpPr/>
          <p:nvPr/>
        </p:nvGrpSpPr>
        <p:grpSpPr>
          <a:xfrm>
            <a:off x="182700" y="151649"/>
            <a:ext cx="8778600" cy="4853775"/>
            <a:chOff x="182700" y="151649"/>
            <a:chExt cx="8778600" cy="4853775"/>
          </a:xfrm>
        </p:grpSpPr>
        <p:pic>
          <p:nvPicPr>
            <p:cNvPr id="68" name="Google Shape;68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32175" y="460399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2700" y="15164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8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2842638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2209200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2"/>
          </p:nvPr>
        </p:nvSpPr>
        <p:spPr>
          <a:xfrm>
            <a:off x="4214900" y="2209200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3"/>
          </p:nvPr>
        </p:nvSpPr>
        <p:spPr>
          <a:xfrm>
            <a:off x="720000" y="394237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4"/>
          </p:nvPr>
        </p:nvSpPr>
        <p:spPr>
          <a:xfrm>
            <a:off x="4214900" y="394237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5" hasCustomPrompt="1"/>
          </p:nvPr>
        </p:nvSpPr>
        <p:spPr>
          <a:xfrm>
            <a:off x="821600" y="1332025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6" hasCustomPrompt="1"/>
          </p:nvPr>
        </p:nvSpPr>
        <p:spPr>
          <a:xfrm>
            <a:off x="821600" y="3064618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7" hasCustomPrompt="1"/>
          </p:nvPr>
        </p:nvSpPr>
        <p:spPr>
          <a:xfrm>
            <a:off x="4316491" y="1332025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8" hasCustomPrompt="1"/>
          </p:nvPr>
        </p:nvSpPr>
        <p:spPr>
          <a:xfrm>
            <a:off x="4316491" y="3064618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9"/>
          </p:nvPr>
        </p:nvSpPr>
        <p:spPr>
          <a:xfrm>
            <a:off x="720000" y="180111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3"/>
          </p:nvPr>
        </p:nvSpPr>
        <p:spPr>
          <a:xfrm>
            <a:off x="4214891" y="180111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4"/>
          </p:nvPr>
        </p:nvSpPr>
        <p:spPr>
          <a:xfrm>
            <a:off x="720000" y="353377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5"/>
          </p:nvPr>
        </p:nvSpPr>
        <p:spPr>
          <a:xfrm>
            <a:off x="4214891" y="353377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875350" y="127038"/>
            <a:ext cx="8033701" cy="4846535"/>
            <a:chOff x="875350" y="127038"/>
            <a:chExt cx="8033701" cy="4846535"/>
          </a:xfrm>
        </p:grpSpPr>
        <p:pic>
          <p:nvPicPr>
            <p:cNvPr id="99" name="Google Shape;9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62350" y="4591273"/>
              <a:ext cx="1646700" cy="3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75350" y="127038"/>
              <a:ext cx="797312" cy="185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3"/>
          <p:cNvGrpSpPr/>
          <p:nvPr/>
        </p:nvGrpSpPr>
        <p:grpSpPr>
          <a:xfrm>
            <a:off x="-989124" y="-114101"/>
            <a:ext cx="9926867" cy="5390476"/>
            <a:chOff x="-989124" y="-114101"/>
            <a:chExt cx="9926867" cy="5390476"/>
          </a:xfrm>
        </p:grpSpPr>
        <p:pic>
          <p:nvPicPr>
            <p:cNvPr id="102" name="Google Shape;10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7472389" y="3811021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989124" y="-114101"/>
              <a:ext cx="2123360" cy="667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182592" y="152134"/>
            <a:ext cx="8782132" cy="4841131"/>
            <a:chOff x="182592" y="152134"/>
            <a:chExt cx="8782132" cy="4841131"/>
          </a:xfrm>
        </p:grpSpPr>
        <p:pic>
          <p:nvPicPr>
            <p:cNvPr id="133" name="Google Shape;133;p17"/>
            <p:cNvPicPr preferRelativeResize="0"/>
            <p:nvPr/>
          </p:nvPicPr>
          <p:blipFill rotWithShape="1">
            <a:blip r:embed="rId2">
              <a:alphaModFix/>
            </a:blip>
            <a:srcRect r="49589" b="7553"/>
            <a:stretch/>
          </p:blipFill>
          <p:spPr>
            <a:xfrm>
              <a:off x="7720725" y="3846041"/>
              <a:ext cx="1243999" cy="1147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7"/>
            <p:cNvPicPr preferRelativeResize="0"/>
            <p:nvPr/>
          </p:nvPicPr>
          <p:blipFill rotWithShape="1">
            <a:blip r:embed="rId2">
              <a:alphaModFix/>
            </a:blip>
            <a:srcRect r="49589" b="7553"/>
            <a:stretch/>
          </p:blipFill>
          <p:spPr>
            <a:xfrm rot="10800000">
              <a:off x="182592" y="152134"/>
              <a:ext cx="957599" cy="883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2101" y="4409576"/>
            <a:ext cx="2467773" cy="77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546499" y="1455823"/>
            <a:ext cx="1811326" cy="4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1"/>
          </p:nvPr>
        </p:nvSpPr>
        <p:spPr>
          <a:xfrm>
            <a:off x="4845613" y="1731125"/>
            <a:ext cx="3424200" cy="21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ubTitle" idx="2"/>
          </p:nvPr>
        </p:nvSpPr>
        <p:spPr>
          <a:xfrm>
            <a:off x="874188" y="1731125"/>
            <a:ext cx="3424200" cy="21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27"/>
          <p:cNvGrpSpPr/>
          <p:nvPr/>
        </p:nvGrpSpPr>
        <p:grpSpPr>
          <a:xfrm>
            <a:off x="277425" y="4604002"/>
            <a:ext cx="3542749" cy="419800"/>
            <a:chOff x="277425" y="4604002"/>
            <a:chExt cx="3542749" cy="419800"/>
          </a:xfrm>
        </p:grpSpPr>
        <p:pic>
          <p:nvPicPr>
            <p:cNvPr id="229" name="Google Shape;229;p27"/>
            <p:cNvPicPr preferRelativeResize="0"/>
            <p:nvPr/>
          </p:nvPicPr>
          <p:blipFill rotWithShape="1">
            <a:blip r:embed="rId2">
              <a:alphaModFix/>
            </a:blip>
            <a:srcRect t="26724"/>
            <a:stretch/>
          </p:blipFill>
          <p:spPr>
            <a:xfrm>
              <a:off x="277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7"/>
            <p:cNvPicPr preferRelativeResize="0"/>
            <p:nvPr/>
          </p:nvPicPr>
          <p:blipFill rotWithShape="1">
            <a:blip r:embed="rId2">
              <a:alphaModFix/>
            </a:blip>
            <a:srcRect t="26724"/>
            <a:stretch/>
          </p:blipFill>
          <p:spPr>
            <a:xfrm>
              <a:off x="1352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27"/>
          <p:cNvGrpSpPr/>
          <p:nvPr/>
        </p:nvGrpSpPr>
        <p:grpSpPr>
          <a:xfrm rot="10800000">
            <a:off x="568325" y="4633850"/>
            <a:ext cx="5797550" cy="230250"/>
            <a:chOff x="5873750" y="218475"/>
            <a:chExt cx="5797550" cy="230250"/>
          </a:xfrm>
        </p:grpSpPr>
        <p:cxnSp>
          <p:nvCxnSpPr>
            <p:cNvPr id="232" name="Google Shape;232;p27"/>
            <p:cNvCxnSpPr/>
            <p:nvPr/>
          </p:nvCxnSpPr>
          <p:spPr>
            <a:xfrm>
              <a:off x="5873750" y="290288"/>
              <a:ext cx="1981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33" name="Google Shape;233;p27"/>
            <p:cNvSpPr/>
            <p:nvPr/>
          </p:nvSpPr>
          <p:spPr>
            <a:xfrm>
              <a:off x="6800850" y="218475"/>
              <a:ext cx="4870450" cy="230250"/>
            </a:xfrm>
            <a:custGeom>
              <a:avLst/>
              <a:gdLst/>
              <a:ahLst/>
              <a:cxnLst/>
              <a:rect l="l" t="t" r="r" b="b"/>
              <a:pathLst>
                <a:path w="194818" h="9210" extrusionOk="0">
                  <a:moveTo>
                    <a:pt x="194818" y="0"/>
                  </a:moveTo>
                  <a:lnTo>
                    <a:pt x="43688" y="233"/>
                  </a:lnTo>
                  <a:lnTo>
                    <a:pt x="38505" y="9210"/>
                  </a:lnTo>
                  <a:lnTo>
                    <a:pt x="10160" y="9210"/>
                  </a:lnTo>
                  <a:lnTo>
                    <a:pt x="0" y="921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subTitle" idx="1"/>
          </p:nvPr>
        </p:nvSpPr>
        <p:spPr>
          <a:xfrm>
            <a:off x="720000" y="2535201"/>
            <a:ext cx="19794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subTitle" idx="2"/>
          </p:nvPr>
        </p:nvSpPr>
        <p:spPr>
          <a:xfrm>
            <a:off x="3588648" y="2535201"/>
            <a:ext cx="19794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8"/>
          <p:cNvSpPr txBox="1">
            <a:spLocks noGrp="1"/>
          </p:cNvSpPr>
          <p:nvPr>
            <p:ph type="subTitle" idx="3"/>
          </p:nvPr>
        </p:nvSpPr>
        <p:spPr>
          <a:xfrm>
            <a:off x="6444602" y="2535201"/>
            <a:ext cx="19794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8"/>
          <p:cNvSpPr txBox="1">
            <a:spLocks noGrp="1"/>
          </p:cNvSpPr>
          <p:nvPr>
            <p:ph type="subTitle" idx="4"/>
          </p:nvPr>
        </p:nvSpPr>
        <p:spPr>
          <a:xfrm>
            <a:off x="720000" y="2199800"/>
            <a:ext cx="19794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41" name="Google Shape;241;p28"/>
          <p:cNvSpPr txBox="1">
            <a:spLocks noGrp="1"/>
          </p:cNvSpPr>
          <p:nvPr>
            <p:ph type="subTitle" idx="5"/>
          </p:nvPr>
        </p:nvSpPr>
        <p:spPr>
          <a:xfrm>
            <a:off x="3588651" y="2199800"/>
            <a:ext cx="19794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42" name="Google Shape;242;p28"/>
          <p:cNvSpPr txBox="1">
            <a:spLocks noGrp="1"/>
          </p:cNvSpPr>
          <p:nvPr>
            <p:ph type="subTitle" idx="6"/>
          </p:nvPr>
        </p:nvSpPr>
        <p:spPr>
          <a:xfrm>
            <a:off x="6444603" y="2199800"/>
            <a:ext cx="19794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243" name="Google Shape;243;p28"/>
          <p:cNvGrpSpPr/>
          <p:nvPr/>
        </p:nvGrpSpPr>
        <p:grpSpPr>
          <a:xfrm>
            <a:off x="5873750" y="224313"/>
            <a:ext cx="2940050" cy="224425"/>
            <a:chOff x="5873750" y="224313"/>
            <a:chExt cx="2940050" cy="224425"/>
          </a:xfrm>
        </p:grpSpPr>
        <p:cxnSp>
          <p:nvCxnSpPr>
            <p:cNvPr id="244" name="Google Shape;244;p28"/>
            <p:cNvCxnSpPr/>
            <p:nvPr/>
          </p:nvCxnSpPr>
          <p:spPr>
            <a:xfrm>
              <a:off x="5873750" y="290288"/>
              <a:ext cx="1981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45" name="Google Shape;245;p28"/>
            <p:cNvSpPr/>
            <p:nvPr/>
          </p:nvSpPr>
          <p:spPr>
            <a:xfrm rot="10800000">
              <a:off x="6800850" y="224313"/>
              <a:ext cx="2012950" cy="224425"/>
            </a:xfrm>
            <a:custGeom>
              <a:avLst/>
              <a:gdLst/>
              <a:ahLst/>
              <a:cxnLst/>
              <a:rect l="l" t="t" r="r" b="b"/>
              <a:pathLst>
                <a:path w="80518" h="8977" extrusionOk="0">
                  <a:moveTo>
                    <a:pt x="0" y="8977"/>
                  </a:moveTo>
                  <a:lnTo>
                    <a:pt x="36830" y="8977"/>
                  </a:lnTo>
                  <a:lnTo>
                    <a:pt x="42013" y="0"/>
                  </a:lnTo>
                  <a:lnTo>
                    <a:pt x="70358" y="0"/>
                  </a:lnTo>
                  <a:lnTo>
                    <a:pt x="80518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  <p:grpSp>
        <p:nvGrpSpPr>
          <p:cNvPr id="246" name="Google Shape;246;p28"/>
          <p:cNvGrpSpPr/>
          <p:nvPr/>
        </p:nvGrpSpPr>
        <p:grpSpPr>
          <a:xfrm>
            <a:off x="3124200" y="4610350"/>
            <a:ext cx="3549651" cy="387101"/>
            <a:chOff x="3124200" y="4610350"/>
            <a:chExt cx="3549651" cy="387101"/>
          </a:xfrm>
        </p:grpSpPr>
        <p:pic>
          <p:nvPicPr>
            <p:cNvPr id="247" name="Google Shape;247;p28"/>
            <p:cNvPicPr preferRelativeResize="0"/>
            <p:nvPr/>
          </p:nvPicPr>
          <p:blipFill rotWithShape="1">
            <a:blip r:embed="rId2">
              <a:alphaModFix/>
            </a:blip>
            <a:srcRect t="58031" b="6290"/>
            <a:stretch/>
          </p:blipFill>
          <p:spPr>
            <a:xfrm>
              <a:off x="4245892" y="4610350"/>
              <a:ext cx="2427959" cy="38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8"/>
            <p:cNvPicPr preferRelativeResize="0"/>
            <p:nvPr/>
          </p:nvPicPr>
          <p:blipFill rotWithShape="1">
            <a:blip r:embed="rId3">
              <a:alphaModFix/>
            </a:blip>
            <a:srcRect l="23295" t="76294"/>
            <a:stretch/>
          </p:blipFill>
          <p:spPr>
            <a:xfrm rot="10800000">
              <a:off x="3124200" y="4639375"/>
              <a:ext cx="1505849" cy="329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4" name="Google Shape;26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0"/>
          <p:cNvSpPr txBox="1">
            <a:spLocks noGrp="1"/>
          </p:cNvSpPr>
          <p:nvPr>
            <p:ph type="subTitle" idx="1"/>
          </p:nvPr>
        </p:nvSpPr>
        <p:spPr>
          <a:xfrm>
            <a:off x="1838848" y="20955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0"/>
          <p:cNvSpPr txBox="1">
            <a:spLocks noGrp="1"/>
          </p:cNvSpPr>
          <p:nvPr>
            <p:ph type="subTitle" idx="2"/>
          </p:nvPr>
        </p:nvSpPr>
        <p:spPr>
          <a:xfrm>
            <a:off x="5326952" y="20955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0"/>
          <p:cNvSpPr txBox="1">
            <a:spLocks noGrp="1"/>
          </p:cNvSpPr>
          <p:nvPr>
            <p:ph type="subTitle" idx="3"/>
          </p:nvPr>
        </p:nvSpPr>
        <p:spPr>
          <a:xfrm>
            <a:off x="1838848" y="371912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0"/>
          <p:cNvSpPr txBox="1">
            <a:spLocks noGrp="1"/>
          </p:cNvSpPr>
          <p:nvPr>
            <p:ph type="subTitle" idx="4"/>
          </p:nvPr>
        </p:nvSpPr>
        <p:spPr>
          <a:xfrm>
            <a:off x="5326952" y="371912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0"/>
          <p:cNvSpPr txBox="1">
            <a:spLocks noGrp="1"/>
          </p:cNvSpPr>
          <p:nvPr>
            <p:ph type="subTitle" idx="5"/>
          </p:nvPr>
        </p:nvSpPr>
        <p:spPr>
          <a:xfrm>
            <a:off x="1838848" y="1760150"/>
            <a:ext cx="1978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0" name="Google Shape;270;p30"/>
          <p:cNvSpPr txBox="1">
            <a:spLocks noGrp="1"/>
          </p:cNvSpPr>
          <p:nvPr>
            <p:ph type="subTitle" idx="6"/>
          </p:nvPr>
        </p:nvSpPr>
        <p:spPr>
          <a:xfrm>
            <a:off x="1838848" y="3383725"/>
            <a:ext cx="1978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1" name="Google Shape;271;p30"/>
          <p:cNvSpPr txBox="1">
            <a:spLocks noGrp="1"/>
          </p:cNvSpPr>
          <p:nvPr>
            <p:ph type="subTitle" idx="7"/>
          </p:nvPr>
        </p:nvSpPr>
        <p:spPr>
          <a:xfrm>
            <a:off x="5326948" y="1760150"/>
            <a:ext cx="1978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2" name="Google Shape;272;p30"/>
          <p:cNvSpPr txBox="1">
            <a:spLocks noGrp="1"/>
          </p:cNvSpPr>
          <p:nvPr>
            <p:ph type="subTitle" idx="8"/>
          </p:nvPr>
        </p:nvSpPr>
        <p:spPr>
          <a:xfrm>
            <a:off x="5326948" y="3383725"/>
            <a:ext cx="1978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273" name="Google Shape;273;p30"/>
          <p:cNvGrpSpPr/>
          <p:nvPr/>
        </p:nvGrpSpPr>
        <p:grpSpPr>
          <a:xfrm>
            <a:off x="181125" y="4560350"/>
            <a:ext cx="1734684" cy="459650"/>
            <a:chOff x="181125" y="4560350"/>
            <a:chExt cx="1734684" cy="459650"/>
          </a:xfrm>
        </p:grpSpPr>
        <p:pic>
          <p:nvPicPr>
            <p:cNvPr id="274" name="Google Shape;274;p30"/>
            <p:cNvPicPr preferRelativeResize="0"/>
            <p:nvPr/>
          </p:nvPicPr>
          <p:blipFill rotWithShape="1">
            <a:blip r:embed="rId2">
              <a:alphaModFix/>
            </a:blip>
            <a:srcRect l="12381"/>
            <a:stretch/>
          </p:blipFill>
          <p:spPr>
            <a:xfrm>
              <a:off x="181125" y="4560350"/>
              <a:ext cx="1734684" cy="459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820024" y="4668699"/>
              <a:ext cx="456876" cy="242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30"/>
          <p:cNvGrpSpPr/>
          <p:nvPr/>
        </p:nvGrpSpPr>
        <p:grpSpPr>
          <a:xfrm>
            <a:off x="7422124" y="2694275"/>
            <a:ext cx="1502801" cy="3032450"/>
            <a:chOff x="7364974" y="2694275"/>
            <a:chExt cx="1502801" cy="3032450"/>
          </a:xfrm>
        </p:grpSpPr>
        <p:pic>
          <p:nvPicPr>
            <p:cNvPr id="277" name="Google Shape;277;p30"/>
            <p:cNvPicPr preferRelativeResize="0"/>
            <p:nvPr/>
          </p:nvPicPr>
          <p:blipFill rotWithShape="1">
            <a:blip r:embed="rId4">
              <a:alphaModFix amt="39000"/>
            </a:blip>
            <a:srcRect b="78197"/>
            <a:stretch/>
          </p:blipFill>
          <p:spPr>
            <a:xfrm rot="5400000">
              <a:off x="6281062" y="3997262"/>
              <a:ext cx="2813374" cy="645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30"/>
            <p:cNvPicPr preferRelativeResize="0"/>
            <p:nvPr/>
          </p:nvPicPr>
          <p:blipFill rotWithShape="1">
            <a:blip r:embed="rId4">
              <a:alphaModFix/>
            </a:blip>
            <a:srcRect l="2040" t="55999" r="-2040" b="7401"/>
            <a:stretch/>
          </p:blipFill>
          <p:spPr>
            <a:xfrm rot="5400000">
              <a:off x="6919238" y="3559112"/>
              <a:ext cx="2813374" cy="1083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" name="Google Shape;279;p30"/>
          <p:cNvGrpSpPr/>
          <p:nvPr/>
        </p:nvGrpSpPr>
        <p:grpSpPr>
          <a:xfrm>
            <a:off x="3408501" y="149950"/>
            <a:ext cx="4900549" cy="508917"/>
            <a:chOff x="3408501" y="149950"/>
            <a:chExt cx="4900549" cy="508917"/>
          </a:xfrm>
        </p:grpSpPr>
        <p:pic>
          <p:nvPicPr>
            <p:cNvPr id="280" name="Google Shape;280;p30"/>
            <p:cNvPicPr preferRelativeResize="0"/>
            <p:nvPr/>
          </p:nvPicPr>
          <p:blipFill rotWithShape="1">
            <a:blip r:embed="rId5">
              <a:alphaModFix amt="85000"/>
            </a:blip>
            <a:srcRect b="25816"/>
            <a:stretch/>
          </p:blipFill>
          <p:spPr>
            <a:xfrm rot="10800000">
              <a:off x="4323049" y="149950"/>
              <a:ext cx="3986000" cy="459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3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3408501" y="195934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2" name="Google Shape;30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2"/>
          <p:cNvSpPr txBox="1">
            <a:spLocks noGrp="1"/>
          </p:cNvSpPr>
          <p:nvPr>
            <p:ph type="subTitle" idx="1"/>
          </p:nvPr>
        </p:nvSpPr>
        <p:spPr>
          <a:xfrm>
            <a:off x="720000" y="2095563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2"/>
          <p:cNvSpPr txBox="1">
            <a:spLocks noGrp="1"/>
          </p:cNvSpPr>
          <p:nvPr>
            <p:ph type="subTitle" idx="2"/>
          </p:nvPr>
        </p:nvSpPr>
        <p:spPr>
          <a:xfrm>
            <a:off x="3467622" y="2095563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2"/>
          <p:cNvSpPr txBox="1">
            <a:spLocks noGrp="1"/>
          </p:cNvSpPr>
          <p:nvPr>
            <p:ph type="subTitle" idx="3"/>
          </p:nvPr>
        </p:nvSpPr>
        <p:spPr>
          <a:xfrm>
            <a:off x="720000" y="3719125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2"/>
          <p:cNvSpPr txBox="1">
            <a:spLocks noGrp="1"/>
          </p:cNvSpPr>
          <p:nvPr>
            <p:ph type="subTitle" idx="4"/>
          </p:nvPr>
        </p:nvSpPr>
        <p:spPr>
          <a:xfrm>
            <a:off x="3467622" y="3719125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2"/>
          <p:cNvSpPr txBox="1">
            <a:spLocks noGrp="1"/>
          </p:cNvSpPr>
          <p:nvPr>
            <p:ph type="subTitle" idx="5"/>
          </p:nvPr>
        </p:nvSpPr>
        <p:spPr>
          <a:xfrm>
            <a:off x="6215244" y="2095563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2"/>
          <p:cNvSpPr txBox="1">
            <a:spLocks noGrp="1"/>
          </p:cNvSpPr>
          <p:nvPr>
            <p:ph type="subTitle" idx="6"/>
          </p:nvPr>
        </p:nvSpPr>
        <p:spPr>
          <a:xfrm>
            <a:off x="6215244" y="3719125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2"/>
          <p:cNvSpPr txBox="1">
            <a:spLocks noGrp="1"/>
          </p:cNvSpPr>
          <p:nvPr>
            <p:ph type="subTitle" idx="7"/>
          </p:nvPr>
        </p:nvSpPr>
        <p:spPr>
          <a:xfrm>
            <a:off x="720976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0" name="Google Shape;310;p32"/>
          <p:cNvSpPr txBox="1">
            <a:spLocks noGrp="1"/>
          </p:cNvSpPr>
          <p:nvPr>
            <p:ph type="subTitle" idx="8"/>
          </p:nvPr>
        </p:nvSpPr>
        <p:spPr>
          <a:xfrm>
            <a:off x="3468598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9"/>
          </p:nvPr>
        </p:nvSpPr>
        <p:spPr>
          <a:xfrm>
            <a:off x="6216220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13"/>
          </p:nvPr>
        </p:nvSpPr>
        <p:spPr>
          <a:xfrm>
            <a:off x="721001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14"/>
          </p:nvPr>
        </p:nvSpPr>
        <p:spPr>
          <a:xfrm>
            <a:off x="3468623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15"/>
          </p:nvPr>
        </p:nvSpPr>
        <p:spPr>
          <a:xfrm>
            <a:off x="6216245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315" name="Google Shape;315;p32"/>
          <p:cNvGrpSpPr/>
          <p:nvPr/>
        </p:nvGrpSpPr>
        <p:grpSpPr>
          <a:xfrm>
            <a:off x="6317000" y="3025549"/>
            <a:ext cx="2639950" cy="2028175"/>
            <a:chOff x="6317000" y="3025549"/>
            <a:chExt cx="2639950" cy="2028175"/>
          </a:xfrm>
        </p:grpSpPr>
        <p:pic>
          <p:nvPicPr>
            <p:cNvPr id="316" name="Google Shape;316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7281287" y="3313088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32"/>
            <p:cNvPicPr preferRelativeResize="0"/>
            <p:nvPr/>
          </p:nvPicPr>
          <p:blipFill rotWithShape="1">
            <a:blip r:embed="rId3">
              <a:alphaModFix/>
            </a:blip>
            <a:srcRect b="76479"/>
            <a:stretch/>
          </p:blipFill>
          <p:spPr>
            <a:xfrm>
              <a:off x="6317000" y="4448075"/>
              <a:ext cx="2446675" cy="6056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8" name="Google Shape;3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60224" y="236274"/>
            <a:ext cx="456876" cy="2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4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4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8" r:id="rId8"/>
    <p:sldLayoutId id="2147483659" r:id="rId9"/>
    <p:sldLayoutId id="2147483663" r:id="rId10"/>
    <p:sldLayoutId id="2147483673" r:id="rId11"/>
    <p:sldLayoutId id="2147483674" r:id="rId12"/>
    <p:sldLayoutId id="2147483676" r:id="rId13"/>
    <p:sldLayoutId id="2147483678" r:id="rId14"/>
    <p:sldLayoutId id="2147483681" r:id="rId15"/>
    <p:sldLayoutId id="2147483682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 l="2124" b="9502"/>
          <a:stretch/>
        </p:blipFill>
        <p:spPr>
          <a:xfrm>
            <a:off x="0" y="3692921"/>
            <a:ext cx="4304653" cy="14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0"/>
          <p:cNvPicPr preferRelativeResize="0"/>
          <p:nvPr/>
        </p:nvPicPr>
        <p:blipFill rotWithShape="1">
          <a:blip r:embed="rId4">
            <a:alphaModFix/>
          </a:blip>
          <a:srcRect t="19097" r="5042" b="2954"/>
          <a:stretch/>
        </p:blipFill>
        <p:spPr>
          <a:xfrm>
            <a:off x="2396525" y="3055175"/>
            <a:ext cx="3716124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7519424" y="3535074"/>
            <a:ext cx="456876" cy="2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0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 dirty="0"/>
              <a:t>Análise do Bolsa Família</a:t>
            </a:r>
            <a:br>
              <a:rPr lang="pt-BR" dirty="0"/>
            </a:br>
            <a:r>
              <a:rPr lang="de" sz="1800" dirty="0">
                <a:solidFill>
                  <a:schemeClr val="accent2"/>
                </a:solidFill>
              </a:rPr>
              <a:t>Construção de um modelo preditivo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94" name="Google Shape;394;p40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Ulisses Cuani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 txBox="1">
            <a:spLocks noGrp="1"/>
          </p:cNvSpPr>
          <p:nvPr>
            <p:ph type="title"/>
          </p:nvPr>
        </p:nvSpPr>
        <p:spPr>
          <a:xfrm>
            <a:off x="720000" y="794275"/>
            <a:ext cx="4855200" cy="9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Objetivo do Projeto</a:t>
            </a:r>
            <a:endParaRPr dirty="0"/>
          </a:p>
        </p:txBody>
      </p:sp>
      <p:sp>
        <p:nvSpPr>
          <p:cNvPr id="458" name="Google Shape;458;p46"/>
          <p:cNvSpPr txBox="1">
            <a:spLocks noGrp="1"/>
          </p:cNvSpPr>
          <p:nvPr>
            <p:ph type="subTitle" idx="1"/>
          </p:nvPr>
        </p:nvSpPr>
        <p:spPr>
          <a:xfrm>
            <a:off x="719999" y="1986049"/>
            <a:ext cx="6352745" cy="2087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3274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+mj-lt"/>
              <a:buAutoNum type="arabicPeriod"/>
            </a:pPr>
            <a:r>
              <a:rPr lang="pt-BR" dirty="0"/>
              <a:t>Quais indicadores socioeconômicos mais influenciam a quantidade de beneficiários? </a:t>
            </a:r>
            <a:endParaRPr dirty="0"/>
          </a:p>
          <a:p>
            <a:pPr marL="33274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+mj-lt"/>
              <a:buAutoNum type="arabicPeriod"/>
            </a:pPr>
            <a:r>
              <a:rPr lang="pt-BR" dirty="0"/>
              <a:t>É possível estimar a demanda potencial de benefícios em municípios? </a:t>
            </a:r>
            <a:endParaRPr dirty="0"/>
          </a:p>
          <a:p>
            <a:pPr marL="33274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+mj-lt"/>
              <a:buAutoNum type="arabicPeriod"/>
            </a:pPr>
            <a:r>
              <a:rPr lang="pt-BR" dirty="0"/>
              <a:t>Há municípios com subatendimento ou sobreconcentração de beneficiários?</a:t>
            </a:r>
          </a:p>
          <a:p>
            <a:pPr marL="33274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+mj-lt"/>
              <a:buAutoNum type="arabicPeriod"/>
            </a:pPr>
            <a:r>
              <a:rPr lang="pt-BR" dirty="0"/>
              <a:t>Como esse modelo pode apoiar planejamento orçamentário e políticas públicas?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</a:t>
            </a:r>
            <a:r>
              <a:rPr lang="de" dirty="0"/>
              <a:t>apeamento das bases de dados</a:t>
            </a:r>
            <a:endParaRPr dirty="0"/>
          </a:p>
        </p:txBody>
      </p:sp>
      <p:graphicFrame>
        <p:nvGraphicFramePr>
          <p:cNvPr id="401" name="Google Shape;401;p41"/>
          <p:cNvGraphicFramePr/>
          <p:nvPr>
            <p:extLst>
              <p:ext uri="{D42A27DB-BD31-4B8C-83A1-F6EECF244321}">
                <p14:modId xmlns:p14="http://schemas.microsoft.com/office/powerpoint/2010/main" val="440437791"/>
              </p:ext>
            </p:extLst>
          </p:nvPr>
        </p:nvGraphicFramePr>
        <p:xfrm>
          <a:off x="713162" y="1455766"/>
          <a:ext cx="7717675" cy="1563694"/>
        </p:xfrm>
        <a:graphic>
          <a:graphicData uri="http://schemas.openxmlformats.org/drawingml/2006/table">
            <a:tbl>
              <a:tblPr>
                <a:noFill/>
                <a:tableStyleId>{05C4CE56-C979-4C8F-86EA-88DA58A280E8}</a:tableStyleId>
              </a:tblPr>
              <a:tblGrid>
                <a:gridCol w="219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9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 b="1" u="sng" dirty="0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IBGE / SIDRA</a:t>
                      </a:r>
                      <a:endParaRPr sz="1100" b="1" u="sng" dirty="0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de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Extração dos dados via API;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de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Definido ano de 2021.</a:t>
                      </a:r>
                      <a:endParaRPr sz="1000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1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 b="1" u="sng" dirty="0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BOLSA FAMÍLIA</a:t>
                      </a:r>
                      <a:endParaRPr sz="1100" b="1" u="sng" dirty="0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de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Base de 2021, agregando os meses.</a:t>
                      </a:r>
                      <a:endParaRPr sz="1000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 b="1" u="sng" dirty="0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CÓD. MUNICÍPIOS</a:t>
                      </a:r>
                      <a:endParaRPr sz="1100" b="1" u="sng" dirty="0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de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Base intermediária para fazer o join entre as tabelas, pelo código do município.</a:t>
                      </a:r>
                      <a:endParaRPr sz="1000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2A4E5336-3F57-483D-0A09-0F57B985FE63}"/>
              </a:ext>
            </a:extLst>
          </p:cNvPr>
          <p:cNvSpPr txBox="1"/>
          <p:nvPr/>
        </p:nvSpPr>
        <p:spPr>
          <a:xfrm>
            <a:off x="629174" y="3221147"/>
            <a:ext cx="818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u="sng" dirty="0">
                <a:latin typeface="IBM Plex Mono" panose="020B0509050203000203" pitchFamily="49" charset="0"/>
                <a:cs typeface="Archivo" panose="020B0604020202020204" charset="0"/>
              </a:rPr>
              <a:t>Variáveis não consideradas para o case: </a:t>
            </a:r>
          </a:p>
          <a:p>
            <a:r>
              <a:rPr lang="pt-BR" sz="1000" b="1" dirty="0">
                <a:latin typeface="Archivo" panose="020B0604020202020204" charset="0"/>
                <a:cs typeface="Archivo" panose="020B0604020202020204" charset="0"/>
              </a:rPr>
              <a:t>Saneamento Básico</a:t>
            </a:r>
            <a:r>
              <a:rPr lang="pt-BR" sz="1000" dirty="0">
                <a:latin typeface="Archivo" panose="020B0604020202020204" charset="0"/>
                <a:cs typeface="Archivo" panose="020B0604020202020204" charset="0"/>
              </a:rPr>
              <a:t>: API do IBGE retornou matriz vazia para a granularidade municipal fechada.</a:t>
            </a:r>
          </a:p>
          <a:p>
            <a:r>
              <a:rPr lang="pt-BR" sz="1000" b="1" dirty="0">
                <a:latin typeface="Archivo" panose="020B0604020202020204" charset="0"/>
                <a:cs typeface="Archivo" panose="020B0604020202020204" charset="0"/>
              </a:rPr>
              <a:t>Número de Empresas</a:t>
            </a:r>
            <a:r>
              <a:rPr lang="pt-BR" sz="1000" dirty="0">
                <a:latin typeface="Archivo" panose="020B0604020202020204" charset="0"/>
                <a:cs typeface="Archivo" panose="020B0604020202020204" charset="0"/>
              </a:rPr>
              <a:t>: Inviabilidade técnica temporária (Erro 500) nos servidores do IBGE.</a:t>
            </a:r>
          </a:p>
          <a:p>
            <a:r>
              <a:rPr lang="pt-BR" sz="1000" b="1" dirty="0">
                <a:latin typeface="Archivo" panose="020B0604020202020204" charset="0"/>
                <a:cs typeface="Archivo" panose="020B0604020202020204" charset="0"/>
              </a:rPr>
              <a:t>Desemprego e Renda</a:t>
            </a:r>
            <a:r>
              <a:rPr lang="pt-BR" sz="1000" dirty="0">
                <a:latin typeface="Archivo" panose="020B0604020202020204" charset="0"/>
                <a:cs typeface="Archivo" panose="020B0604020202020204" charset="0"/>
              </a:rPr>
              <a:t>: Dados oriundos da pesquisa PNAD, que não possui margem de confiabilidade estatística a nível municipal (apenas estadual).</a:t>
            </a:r>
          </a:p>
          <a:p>
            <a:endParaRPr lang="pt-BR" sz="1000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pt-BR" sz="1000" u="sng" dirty="0">
                <a:latin typeface="IBM Plex Mono" panose="020B0509050203000203" pitchFamily="49" charset="0"/>
                <a:cs typeface="Archivo" panose="020B0604020202020204" charset="0"/>
              </a:rPr>
              <a:t>Metodologia Alternativa:</a:t>
            </a:r>
          </a:p>
          <a:p>
            <a:r>
              <a:rPr lang="pt-BR" sz="1000" b="1" dirty="0">
                <a:latin typeface="Archivo" panose="020B0604020202020204" charset="0"/>
                <a:cs typeface="Archivo" panose="020B0604020202020204" charset="0"/>
              </a:rPr>
              <a:t>População Urbana (Proxy de 2010)</a:t>
            </a:r>
            <a:r>
              <a:rPr lang="pt-BR" sz="1000" dirty="0">
                <a:latin typeface="Archivo" panose="020B0604020202020204" charset="0"/>
                <a:cs typeface="Archivo" panose="020B0604020202020204" charset="0"/>
              </a:rPr>
              <a:t>: A separação Urbana </a:t>
            </a:r>
            <a:r>
              <a:rPr lang="pt-BR" sz="1000" dirty="0" err="1">
                <a:latin typeface="Archivo" panose="020B0604020202020204" charset="0"/>
                <a:cs typeface="Archivo" panose="020B0604020202020204" charset="0"/>
              </a:rPr>
              <a:t>vs</a:t>
            </a:r>
            <a:r>
              <a:rPr lang="pt-BR" sz="1000" dirty="0">
                <a:latin typeface="Archivo" panose="020B0604020202020204" charset="0"/>
                <a:cs typeface="Archivo" panose="020B0604020202020204" charset="0"/>
              </a:rPr>
              <a:t> Rural do Censo 2022 ainda não estava totalmente estabilizada na API pública do SIDRA.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Início da exploração ...</a:t>
            </a:r>
            <a:endParaRPr dirty="0"/>
          </a:p>
        </p:txBody>
      </p:sp>
      <p:pic>
        <p:nvPicPr>
          <p:cNvPr id="484" name="Google Shape;484;p48"/>
          <p:cNvPicPr preferRelativeResize="0"/>
          <p:nvPr/>
        </p:nvPicPr>
        <p:blipFill rotWithShape="1">
          <a:blip r:embed="rId3">
            <a:alphaModFix amt="38000"/>
          </a:blip>
          <a:srcRect t="58031" b="6290"/>
          <a:stretch/>
        </p:blipFill>
        <p:spPr>
          <a:xfrm>
            <a:off x="4979675" y="4362450"/>
            <a:ext cx="39828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584A91BE-B8F1-0E1A-E2A3-1FDE79CD7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54" y="1492426"/>
            <a:ext cx="8165306" cy="861167"/>
          </a:xfrm>
          <a:prstGeom prst="rect">
            <a:avLst/>
          </a:prstGeom>
        </p:spPr>
      </p:pic>
      <p:sp>
        <p:nvSpPr>
          <p:cNvPr id="24" name="Google Shape;410;p42">
            <a:extLst>
              <a:ext uri="{FF2B5EF4-FFF2-40B4-BE49-F238E27FC236}">
                <a16:creationId xmlns:a16="http://schemas.microsoft.com/office/drawing/2014/main" id="{CC9DD1DE-5D2E-DF7C-ABD2-93C60E5332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51495" y="3591282"/>
            <a:ext cx="36578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Quantidade de valores únicos por coluna</a:t>
            </a:r>
            <a:endParaRPr dirty="0"/>
          </a:p>
        </p:txBody>
      </p:sp>
      <p:sp>
        <p:nvSpPr>
          <p:cNvPr id="25" name="Google Shape;411;p42">
            <a:extLst>
              <a:ext uri="{FF2B5EF4-FFF2-40B4-BE49-F238E27FC236}">
                <a16:creationId xmlns:a16="http://schemas.microsoft.com/office/drawing/2014/main" id="{E4924BDC-D961-D149-1EFD-8B884330576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551496" y="3051134"/>
            <a:ext cx="35634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Existem valores ausentes? </a:t>
            </a:r>
            <a:endParaRPr dirty="0"/>
          </a:p>
        </p:txBody>
      </p:sp>
      <p:sp>
        <p:nvSpPr>
          <p:cNvPr id="26" name="Google Shape;412;p42">
            <a:extLst>
              <a:ext uri="{FF2B5EF4-FFF2-40B4-BE49-F238E27FC236}">
                <a16:creationId xmlns:a16="http://schemas.microsoft.com/office/drawing/2014/main" id="{F02808B2-249C-F12F-21C3-7088A1E05FF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551497" y="2498289"/>
            <a:ext cx="320753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 granularidade esta correta?</a:t>
            </a:r>
            <a:endParaRPr dirty="0"/>
          </a:p>
        </p:txBody>
      </p:sp>
      <p:sp>
        <p:nvSpPr>
          <p:cNvPr id="29" name="Google Shape;415;p42">
            <a:extLst>
              <a:ext uri="{FF2B5EF4-FFF2-40B4-BE49-F238E27FC236}">
                <a16:creationId xmlns:a16="http://schemas.microsoft.com/office/drawing/2014/main" id="{4BC5D95A-3914-6736-7840-70DA451C05BE}"/>
              </a:ext>
            </a:extLst>
          </p:cNvPr>
          <p:cNvSpPr txBox="1">
            <a:spLocks/>
          </p:cNvSpPr>
          <p:nvPr/>
        </p:nvSpPr>
        <p:spPr>
          <a:xfrm>
            <a:off x="646700" y="2503558"/>
            <a:ext cx="9048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1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de" dirty="0"/>
              <a:t>01</a:t>
            </a:r>
          </a:p>
        </p:txBody>
      </p:sp>
      <p:sp>
        <p:nvSpPr>
          <p:cNvPr id="30" name="Google Shape;416;p42">
            <a:extLst>
              <a:ext uri="{FF2B5EF4-FFF2-40B4-BE49-F238E27FC236}">
                <a16:creationId xmlns:a16="http://schemas.microsoft.com/office/drawing/2014/main" id="{F87E45E1-008E-6E23-E701-6F2696C44C2F}"/>
              </a:ext>
            </a:extLst>
          </p:cNvPr>
          <p:cNvSpPr txBox="1">
            <a:spLocks/>
          </p:cNvSpPr>
          <p:nvPr/>
        </p:nvSpPr>
        <p:spPr>
          <a:xfrm>
            <a:off x="646700" y="3609248"/>
            <a:ext cx="9048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1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de"/>
              <a:t>03</a:t>
            </a:r>
          </a:p>
        </p:txBody>
      </p:sp>
      <p:sp>
        <p:nvSpPr>
          <p:cNvPr id="2" name="Google Shape;416;p42">
            <a:extLst>
              <a:ext uri="{FF2B5EF4-FFF2-40B4-BE49-F238E27FC236}">
                <a16:creationId xmlns:a16="http://schemas.microsoft.com/office/drawing/2014/main" id="{C7ABB1FE-A98B-5447-9A80-63CC4BE58079}"/>
              </a:ext>
            </a:extLst>
          </p:cNvPr>
          <p:cNvSpPr txBox="1">
            <a:spLocks/>
          </p:cNvSpPr>
          <p:nvPr/>
        </p:nvSpPr>
        <p:spPr>
          <a:xfrm>
            <a:off x="646700" y="3056403"/>
            <a:ext cx="9048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1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de" dirty="0"/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Criação de novas features</a:t>
            </a:r>
            <a:endParaRPr dirty="0"/>
          </a:p>
        </p:txBody>
      </p:sp>
      <p:sp>
        <p:nvSpPr>
          <p:cNvPr id="409" name="Google Shape;409;p42"/>
          <p:cNvSpPr txBox="1">
            <a:spLocks noGrp="1"/>
          </p:cNvSpPr>
          <p:nvPr>
            <p:ph type="subTitle" idx="13"/>
          </p:nvPr>
        </p:nvSpPr>
        <p:spPr>
          <a:xfrm>
            <a:off x="5345957" y="1329134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% VA Agropecuario</a:t>
            </a:r>
            <a:endParaRPr dirty="0"/>
          </a:p>
        </p:txBody>
      </p:sp>
      <p:sp>
        <p:nvSpPr>
          <p:cNvPr id="410" name="Google Shape;410;p42"/>
          <p:cNvSpPr txBox="1">
            <a:spLocks noGrp="1"/>
          </p:cNvSpPr>
          <p:nvPr>
            <p:ph type="subTitle" idx="1"/>
          </p:nvPr>
        </p:nvSpPr>
        <p:spPr>
          <a:xfrm>
            <a:off x="720000" y="2271543"/>
            <a:ext cx="30692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PIB / pop. município</a:t>
            </a:r>
            <a:endParaRPr dirty="0"/>
          </a:p>
        </p:txBody>
      </p:sp>
      <p:sp>
        <p:nvSpPr>
          <p:cNvPr id="411" name="Google Shape;411;p42"/>
          <p:cNvSpPr txBox="1">
            <a:spLocks noGrp="1"/>
          </p:cNvSpPr>
          <p:nvPr>
            <p:ph type="subTitle" idx="2"/>
          </p:nvPr>
        </p:nvSpPr>
        <p:spPr>
          <a:xfrm>
            <a:off x="5345993" y="173604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va agropecuario / pop. município</a:t>
            </a:r>
            <a:endParaRPr dirty="0"/>
          </a:p>
        </p:txBody>
      </p:sp>
      <p:sp>
        <p:nvSpPr>
          <p:cNvPr id="412" name="Google Shape;412;p42"/>
          <p:cNvSpPr txBox="1">
            <a:spLocks noGrp="1"/>
          </p:cNvSpPr>
          <p:nvPr>
            <p:ph type="subTitle" idx="3"/>
          </p:nvPr>
        </p:nvSpPr>
        <p:spPr>
          <a:xfrm>
            <a:off x="720000" y="394237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urbanização / pop. município</a:t>
            </a:r>
          </a:p>
        </p:txBody>
      </p:sp>
      <p:sp>
        <p:nvSpPr>
          <p:cNvPr id="413" name="Google Shape;413;p42"/>
          <p:cNvSpPr txBox="1">
            <a:spLocks noGrp="1"/>
          </p:cNvSpPr>
          <p:nvPr>
            <p:ph type="subTitle" idx="4"/>
          </p:nvPr>
        </p:nvSpPr>
        <p:spPr>
          <a:xfrm>
            <a:off x="5345966" y="275855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va industria /</a:t>
            </a:r>
            <a:r>
              <a:rPr lang="pt-BR" dirty="0"/>
              <a:t> pop. município</a:t>
            </a:r>
          </a:p>
        </p:txBody>
      </p:sp>
      <p:sp>
        <p:nvSpPr>
          <p:cNvPr id="414" name="Google Shape;414;p42"/>
          <p:cNvSpPr txBox="1">
            <a:spLocks noGrp="1"/>
          </p:cNvSpPr>
          <p:nvPr>
            <p:ph type="subTitle" idx="9"/>
          </p:nvPr>
        </p:nvSpPr>
        <p:spPr>
          <a:xfrm>
            <a:off x="720000" y="1863459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PIB per capita</a:t>
            </a:r>
            <a:endParaRPr dirty="0"/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 idx="5"/>
          </p:nvPr>
        </p:nvSpPr>
        <p:spPr>
          <a:xfrm>
            <a:off x="821600" y="1394368"/>
            <a:ext cx="904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01</a:t>
            </a:r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title" idx="6"/>
          </p:nvPr>
        </p:nvSpPr>
        <p:spPr>
          <a:xfrm>
            <a:off x="821600" y="3064618"/>
            <a:ext cx="904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02</a:t>
            </a:r>
            <a:endParaRPr dirty="0"/>
          </a:p>
        </p:txBody>
      </p:sp>
      <p:sp>
        <p:nvSpPr>
          <p:cNvPr id="417" name="Google Shape;417;p42"/>
          <p:cNvSpPr txBox="1">
            <a:spLocks noGrp="1"/>
          </p:cNvSpPr>
          <p:nvPr>
            <p:ph type="title" idx="7"/>
          </p:nvPr>
        </p:nvSpPr>
        <p:spPr>
          <a:xfrm>
            <a:off x="4316491" y="1332025"/>
            <a:ext cx="904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03</a:t>
            </a:r>
            <a:endParaRPr dirty="0"/>
          </a:p>
        </p:txBody>
      </p:sp>
      <p:sp>
        <p:nvSpPr>
          <p:cNvPr id="418" name="Google Shape;418;p42"/>
          <p:cNvSpPr txBox="1">
            <a:spLocks noGrp="1"/>
          </p:cNvSpPr>
          <p:nvPr>
            <p:ph type="title" idx="8"/>
          </p:nvPr>
        </p:nvSpPr>
        <p:spPr>
          <a:xfrm>
            <a:off x="4316473" y="2440420"/>
            <a:ext cx="904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04</a:t>
            </a:r>
            <a:endParaRPr/>
          </a:p>
        </p:txBody>
      </p:sp>
      <p:sp>
        <p:nvSpPr>
          <p:cNvPr id="419" name="Google Shape;419;p42"/>
          <p:cNvSpPr txBox="1">
            <a:spLocks noGrp="1"/>
          </p:cNvSpPr>
          <p:nvPr>
            <p:ph type="subTitle" idx="14"/>
          </p:nvPr>
        </p:nvSpPr>
        <p:spPr>
          <a:xfrm>
            <a:off x="720000" y="353377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Taxa de urbanização</a:t>
            </a:r>
          </a:p>
        </p:txBody>
      </p:sp>
      <p:sp>
        <p:nvSpPr>
          <p:cNvPr id="420" name="Google Shape;420;p42"/>
          <p:cNvSpPr txBox="1">
            <a:spLocks noGrp="1"/>
          </p:cNvSpPr>
          <p:nvPr>
            <p:ph type="subTitle" idx="15"/>
          </p:nvPr>
        </p:nvSpPr>
        <p:spPr>
          <a:xfrm>
            <a:off x="5354784" y="2440420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% VA Industria</a:t>
            </a:r>
          </a:p>
        </p:txBody>
      </p:sp>
      <p:sp>
        <p:nvSpPr>
          <p:cNvPr id="2" name="Google Shape;413;p42">
            <a:extLst>
              <a:ext uri="{FF2B5EF4-FFF2-40B4-BE49-F238E27FC236}">
                <a16:creationId xmlns:a16="http://schemas.microsoft.com/office/drawing/2014/main" id="{745CC312-A4E7-20D3-26A2-1CDBEF3E7638}"/>
              </a:ext>
            </a:extLst>
          </p:cNvPr>
          <p:cNvSpPr txBox="1">
            <a:spLocks/>
          </p:cNvSpPr>
          <p:nvPr/>
        </p:nvSpPr>
        <p:spPr>
          <a:xfrm>
            <a:off x="5345975" y="3942375"/>
            <a:ext cx="283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de" dirty="0"/>
              <a:t>va adm pública /</a:t>
            </a:r>
            <a:r>
              <a:rPr lang="pt-BR" dirty="0"/>
              <a:t> pop. município</a:t>
            </a:r>
          </a:p>
        </p:txBody>
      </p:sp>
      <p:sp>
        <p:nvSpPr>
          <p:cNvPr id="3" name="Google Shape;418;p42">
            <a:extLst>
              <a:ext uri="{FF2B5EF4-FFF2-40B4-BE49-F238E27FC236}">
                <a16:creationId xmlns:a16="http://schemas.microsoft.com/office/drawing/2014/main" id="{5E08E8E9-8516-0365-C148-D3777E76BF3D}"/>
              </a:ext>
            </a:extLst>
          </p:cNvPr>
          <p:cNvSpPr txBox="1">
            <a:spLocks/>
          </p:cNvSpPr>
          <p:nvPr/>
        </p:nvSpPr>
        <p:spPr>
          <a:xfrm>
            <a:off x="4316482" y="3548815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2400" b="1" i="0" u="none" strike="noStrike" cap="none">
                <a:solidFill>
                  <a:schemeClr val="accent3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de" dirty="0"/>
              <a:t>05</a:t>
            </a:r>
          </a:p>
        </p:txBody>
      </p:sp>
      <p:sp>
        <p:nvSpPr>
          <p:cNvPr id="4" name="Google Shape;420;p42">
            <a:extLst>
              <a:ext uri="{FF2B5EF4-FFF2-40B4-BE49-F238E27FC236}">
                <a16:creationId xmlns:a16="http://schemas.microsoft.com/office/drawing/2014/main" id="{2C834F84-A13E-F029-65CE-7A0ABC2C29B3}"/>
              </a:ext>
            </a:extLst>
          </p:cNvPr>
          <p:cNvSpPr txBox="1">
            <a:spLocks/>
          </p:cNvSpPr>
          <p:nvPr/>
        </p:nvSpPr>
        <p:spPr>
          <a:xfrm>
            <a:off x="5345957" y="3548815"/>
            <a:ext cx="2838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1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pt-BR" dirty="0"/>
              <a:t>% VA ADM Pública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Correlação: targets vs preditoras</a:t>
            </a:r>
            <a:endParaRPr dirty="0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BA33547E-1491-9702-5FF4-67FDFFEA5A3D}"/>
              </a:ext>
            </a:extLst>
          </p:cNvPr>
          <p:cNvGrpSpPr/>
          <p:nvPr/>
        </p:nvGrpSpPr>
        <p:grpSpPr>
          <a:xfrm>
            <a:off x="626269" y="1390650"/>
            <a:ext cx="5912448" cy="2662958"/>
            <a:chOff x="473869" y="1555750"/>
            <a:chExt cx="5912448" cy="2662958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1B4B019C-F1C6-DED0-C481-5CD4FC6AF0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3" t="5578"/>
            <a:stretch/>
          </p:blipFill>
          <p:spPr>
            <a:xfrm>
              <a:off x="473869" y="1555750"/>
              <a:ext cx="5912448" cy="2662958"/>
            </a:xfrm>
            <a:prstGeom prst="rect">
              <a:avLst/>
            </a:prstGeom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9FC21F2-B710-E021-60BA-F14166364A4A}"/>
                </a:ext>
              </a:extLst>
            </p:cNvPr>
            <p:cNvSpPr/>
            <p:nvPr/>
          </p:nvSpPr>
          <p:spPr>
            <a:xfrm>
              <a:off x="1962151" y="3143249"/>
              <a:ext cx="369093" cy="25003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9CF6DC35-A746-E65E-1D4E-D8182AC7BA56}"/>
                </a:ext>
              </a:extLst>
            </p:cNvPr>
            <p:cNvSpPr/>
            <p:nvPr/>
          </p:nvSpPr>
          <p:spPr>
            <a:xfrm>
              <a:off x="1209677" y="3143249"/>
              <a:ext cx="369093" cy="25003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79847B76-26C6-6860-CF56-7E3145B96DB5}"/>
                </a:ext>
              </a:extLst>
            </p:cNvPr>
            <p:cNvSpPr/>
            <p:nvPr/>
          </p:nvSpPr>
          <p:spPr>
            <a:xfrm>
              <a:off x="3495675" y="3143249"/>
              <a:ext cx="369093" cy="25003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45A5A77-446B-E046-3942-604B58353CC6}"/>
                </a:ext>
              </a:extLst>
            </p:cNvPr>
            <p:cNvSpPr/>
            <p:nvPr/>
          </p:nvSpPr>
          <p:spPr>
            <a:xfrm>
              <a:off x="3879056" y="3143249"/>
              <a:ext cx="369093" cy="250031"/>
            </a:xfrm>
            <a:prstGeom prst="rect">
              <a:avLst/>
            </a:prstGeom>
            <a:noFill/>
            <a:ln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E3DC8CC-FB93-E8B9-BFC4-53FB00948B33}"/>
                </a:ext>
              </a:extLst>
            </p:cNvPr>
            <p:cNvSpPr/>
            <p:nvPr/>
          </p:nvSpPr>
          <p:spPr>
            <a:xfrm>
              <a:off x="4645818" y="3143249"/>
              <a:ext cx="369093" cy="250031"/>
            </a:xfrm>
            <a:prstGeom prst="rect">
              <a:avLst/>
            </a:prstGeom>
            <a:noFill/>
            <a:ln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6296ED8-F808-23A7-4F6B-B44E1CD44047}"/>
              </a:ext>
            </a:extLst>
          </p:cNvPr>
          <p:cNvSpPr txBox="1"/>
          <p:nvPr/>
        </p:nvSpPr>
        <p:spPr>
          <a:xfrm>
            <a:off x="6750050" y="1411802"/>
            <a:ext cx="1879601" cy="193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900" u="sng" dirty="0">
                <a:solidFill>
                  <a:schemeClr val="bg2">
                    <a:lumMod val="25000"/>
                  </a:schemeClr>
                </a:solidFill>
                <a:latin typeface="IBM Plex Mono" panose="020B0509050203000203" pitchFamily="49" charset="0"/>
                <a:cs typeface="Archivo" panose="020B0604020202020204" charset="0"/>
              </a:rPr>
              <a:t>Correlação forte (&gt;70%)</a:t>
            </a:r>
          </a:p>
          <a:p>
            <a:pPr>
              <a:lnSpc>
                <a:spcPct val="150000"/>
              </a:lnSpc>
            </a:pPr>
            <a:r>
              <a:rPr lang="pt-BR" sz="900" dirty="0">
                <a:solidFill>
                  <a:schemeClr val="bg2">
                    <a:lumMod val="25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População do município</a:t>
            </a:r>
          </a:p>
          <a:p>
            <a:pPr>
              <a:lnSpc>
                <a:spcPct val="150000"/>
              </a:lnSpc>
            </a:pPr>
            <a:r>
              <a:rPr lang="pt-BR" sz="900" dirty="0">
                <a:solidFill>
                  <a:schemeClr val="bg2">
                    <a:lumMod val="25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Valor adicionado administração pública</a:t>
            </a:r>
          </a:p>
          <a:p>
            <a:pPr>
              <a:lnSpc>
                <a:spcPct val="150000"/>
              </a:lnSpc>
            </a:pPr>
            <a:r>
              <a:rPr lang="pt-BR" sz="900" dirty="0">
                <a:solidFill>
                  <a:schemeClr val="bg2">
                    <a:lumMod val="25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População Urbana</a:t>
            </a:r>
          </a:p>
          <a:p>
            <a:pPr>
              <a:lnSpc>
                <a:spcPct val="150000"/>
              </a:lnSpc>
            </a:pPr>
            <a:endParaRPr lang="pt-BR" sz="900" dirty="0">
              <a:solidFill>
                <a:schemeClr val="bg2">
                  <a:lumMod val="25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pt-BR" sz="900" u="sng" dirty="0">
                <a:solidFill>
                  <a:schemeClr val="bg2">
                    <a:lumMod val="25000"/>
                  </a:schemeClr>
                </a:solidFill>
                <a:latin typeface="IBM Plex Mono" panose="020B0509050203000203" pitchFamily="49" charset="0"/>
                <a:cs typeface="Archivo" panose="020B0604020202020204" charset="0"/>
              </a:rPr>
              <a:t>Correlação média (&gt;40%)</a:t>
            </a:r>
          </a:p>
          <a:p>
            <a:pPr>
              <a:lnSpc>
                <a:spcPct val="150000"/>
              </a:lnSpc>
            </a:pPr>
            <a:r>
              <a:rPr lang="pt-BR" sz="900" dirty="0">
                <a:solidFill>
                  <a:schemeClr val="bg2">
                    <a:lumMod val="25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PIB per capita</a:t>
            </a:r>
          </a:p>
          <a:p>
            <a:pPr>
              <a:lnSpc>
                <a:spcPct val="150000"/>
              </a:lnSpc>
            </a:pPr>
            <a:r>
              <a:rPr lang="pt-BR" sz="900" dirty="0">
                <a:solidFill>
                  <a:schemeClr val="bg2">
                    <a:lumMod val="25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% Valor adicionado agropecuária</a:t>
            </a:r>
          </a:p>
        </p:txBody>
      </p:sp>
      <p:pic>
        <p:nvPicPr>
          <p:cNvPr id="22" name="Gráfico 21" descr="Seta: curva no sentido horário com preenchimento sólido">
            <a:extLst>
              <a:ext uri="{FF2B5EF4-FFF2-40B4-BE49-F238E27FC236}">
                <a16:creationId xmlns:a16="http://schemas.microsoft.com/office/drawing/2014/main" id="{E1B3B806-8EEC-B247-5F15-A3EA4F0AF7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8797" y="1727200"/>
            <a:ext cx="122506" cy="122506"/>
          </a:xfrm>
          <a:prstGeom prst="rect">
            <a:avLst/>
          </a:prstGeom>
        </p:spPr>
      </p:pic>
      <p:pic>
        <p:nvPicPr>
          <p:cNvPr id="23" name="Gráfico 22" descr="Seta: curva no sentido horário com preenchimento sólido">
            <a:extLst>
              <a:ext uri="{FF2B5EF4-FFF2-40B4-BE49-F238E27FC236}">
                <a16:creationId xmlns:a16="http://schemas.microsoft.com/office/drawing/2014/main" id="{70AEC4EF-2CAB-3D2B-95FD-F2F39D674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8797" y="1936750"/>
            <a:ext cx="122506" cy="122506"/>
          </a:xfrm>
          <a:prstGeom prst="rect">
            <a:avLst/>
          </a:prstGeom>
        </p:spPr>
      </p:pic>
      <p:pic>
        <p:nvPicPr>
          <p:cNvPr id="24" name="Gráfico 23" descr="Seta: curva no sentido horário com preenchimento sólido">
            <a:extLst>
              <a:ext uri="{FF2B5EF4-FFF2-40B4-BE49-F238E27FC236}">
                <a16:creationId xmlns:a16="http://schemas.microsoft.com/office/drawing/2014/main" id="{B52AB9CF-17E5-6BD7-BB3C-6B8E65499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8797" y="2351088"/>
            <a:ext cx="122506" cy="122506"/>
          </a:xfrm>
          <a:prstGeom prst="rect">
            <a:avLst/>
          </a:prstGeom>
        </p:spPr>
      </p:pic>
      <p:pic>
        <p:nvPicPr>
          <p:cNvPr id="25" name="Gráfico 24" descr="Seta: curva no sentido horário com preenchimento sólido">
            <a:extLst>
              <a:ext uri="{FF2B5EF4-FFF2-40B4-BE49-F238E27FC236}">
                <a16:creationId xmlns:a16="http://schemas.microsoft.com/office/drawing/2014/main" id="{D3B34738-1625-7C8D-DCFD-5059041D3C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6688797" y="2961739"/>
            <a:ext cx="122506" cy="122506"/>
          </a:xfrm>
          <a:prstGeom prst="rect">
            <a:avLst/>
          </a:prstGeom>
        </p:spPr>
      </p:pic>
      <p:pic>
        <p:nvPicPr>
          <p:cNvPr id="26" name="Gráfico 25" descr="Seta: curva no sentido horário com preenchimento sólido">
            <a:extLst>
              <a:ext uri="{FF2B5EF4-FFF2-40B4-BE49-F238E27FC236}">
                <a16:creationId xmlns:a16="http://schemas.microsoft.com/office/drawing/2014/main" id="{70DD8DC1-63B5-616B-C18E-28294CB423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6689792" y="3155209"/>
            <a:ext cx="122506" cy="1225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51"/>
          <p:cNvGrpSpPr/>
          <p:nvPr/>
        </p:nvGrpSpPr>
        <p:grpSpPr>
          <a:xfrm>
            <a:off x="870025" y="401112"/>
            <a:ext cx="7404024" cy="4341275"/>
            <a:chOff x="870025" y="401112"/>
            <a:chExt cx="7404024" cy="4341275"/>
          </a:xfrm>
        </p:grpSpPr>
        <p:pic>
          <p:nvPicPr>
            <p:cNvPr id="530" name="Google Shape;530;p51"/>
            <p:cNvPicPr preferRelativeResize="0"/>
            <p:nvPr/>
          </p:nvPicPr>
          <p:blipFill rotWithShape="1">
            <a:blip r:embed="rId3">
              <a:alphaModFix amt="92000"/>
            </a:blip>
            <a:srcRect t="1320" b="-1320"/>
            <a:stretch/>
          </p:blipFill>
          <p:spPr>
            <a:xfrm>
              <a:off x="870025" y="401112"/>
              <a:ext cx="7404024" cy="434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38164" y="53950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3338164" y="414105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3" name="Google Shape;533;p51"/>
          <p:cNvSpPr txBox="1">
            <a:spLocks noGrp="1"/>
          </p:cNvSpPr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</a:rPr>
              <a:t>Modelagem preditiva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Otimização do modelo</a:t>
            </a:r>
            <a:endParaRPr dirty="0"/>
          </a:p>
        </p:txBody>
      </p:sp>
      <p:sp>
        <p:nvSpPr>
          <p:cNvPr id="730" name="Google Shape;730;p62"/>
          <p:cNvSpPr txBox="1"/>
          <p:nvPr/>
        </p:nvSpPr>
        <p:spPr>
          <a:xfrm>
            <a:off x="720000" y="3664743"/>
            <a:ext cx="15999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Mean Absolute Error: 2.000</a:t>
            </a:r>
            <a:endParaRPr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1" name="Google Shape;731;p62"/>
          <p:cNvSpPr txBox="1"/>
          <p:nvPr/>
        </p:nvSpPr>
        <p:spPr>
          <a:xfrm>
            <a:off x="4965365" y="3671886"/>
            <a:ext cx="15999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</a:t>
            </a: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p_minimize – abordagem bayesiana</a:t>
            </a:r>
            <a:endParaRPr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2" name="Google Shape;732;p62"/>
          <p:cNvSpPr txBox="1"/>
          <p:nvPr/>
        </p:nvSpPr>
        <p:spPr>
          <a:xfrm>
            <a:off x="2773329" y="1476627"/>
            <a:ext cx="15999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Seleção por modelo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3" name="Google Shape;733;p62"/>
          <p:cNvSpPr txBox="1"/>
          <p:nvPr/>
        </p:nvSpPr>
        <p:spPr>
          <a:xfrm>
            <a:off x="1007850" y="2736638"/>
            <a:ext cx="1024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RandomForest</a:t>
            </a:r>
            <a:endParaRPr sz="18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34" name="Google Shape;734;p62"/>
          <p:cNvSpPr txBox="1"/>
          <p:nvPr/>
        </p:nvSpPr>
        <p:spPr>
          <a:xfrm>
            <a:off x="4689059" y="2828138"/>
            <a:ext cx="201292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Hiperpametros</a:t>
            </a:r>
            <a:endParaRPr sz="18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35" name="Google Shape;735;p62"/>
          <p:cNvSpPr txBox="1"/>
          <p:nvPr/>
        </p:nvSpPr>
        <p:spPr>
          <a:xfrm>
            <a:off x="2846399" y="2736638"/>
            <a:ext cx="1425881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Feature Selection</a:t>
            </a:r>
            <a:endParaRPr sz="18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36" name="Google Shape;736;p62"/>
          <p:cNvSpPr txBox="1"/>
          <p:nvPr/>
        </p:nvSpPr>
        <p:spPr>
          <a:xfrm>
            <a:off x="7160457" y="1476627"/>
            <a:ext cx="15999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Random Forest,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XGBoost,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LightGBM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7" name="Google Shape;737;p62"/>
          <p:cNvSpPr txBox="1"/>
          <p:nvPr/>
        </p:nvSpPr>
        <p:spPr>
          <a:xfrm>
            <a:off x="7160457" y="2828100"/>
            <a:ext cx="1557916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Comparação Final</a:t>
            </a:r>
            <a:endParaRPr sz="18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741" name="Google Shape;741;p62"/>
          <p:cNvCxnSpPr>
            <a:endCxn id="730" idx="0"/>
          </p:cNvCxnSpPr>
          <p:nvPr/>
        </p:nvCxnSpPr>
        <p:spPr>
          <a:xfrm rot="-5400000" flipH="1">
            <a:off x="1329150" y="3473943"/>
            <a:ext cx="3810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2" name="Google Shape;742;p62"/>
          <p:cNvCxnSpPr>
            <a:cxnSpLocks/>
            <a:endCxn id="732" idx="2"/>
          </p:cNvCxnSpPr>
          <p:nvPr/>
        </p:nvCxnSpPr>
        <p:spPr>
          <a:xfrm rot="16200000" flipV="1">
            <a:off x="3465225" y="2373382"/>
            <a:ext cx="216111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3" name="Google Shape;743;p62"/>
          <p:cNvCxnSpPr>
            <a:cxnSpLocks/>
            <a:endCxn id="731" idx="0"/>
          </p:cNvCxnSpPr>
          <p:nvPr/>
        </p:nvCxnSpPr>
        <p:spPr>
          <a:xfrm rot="-5400000" flipH="1">
            <a:off x="5574988" y="3481088"/>
            <a:ext cx="3810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4" name="Google Shape;744;p62"/>
          <p:cNvCxnSpPr>
            <a:cxnSpLocks/>
            <a:endCxn id="736" idx="2"/>
          </p:cNvCxnSpPr>
          <p:nvPr/>
        </p:nvCxnSpPr>
        <p:spPr>
          <a:xfrm rot="-5400000">
            <a:off x="7770207" y="2455526"/>
            <a:ext cx="3810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7BCB309-2BEF-FE25-D2E8-78A974CA8147}"/>
              </a:ext>
            </a:extLst>
          </p:cNvPr>
          <p:cNvCxnSpPr>
            <a:cxnSpLocks/>
          </p:cNvCxnSpPr>
          <p:nvPr/>
        </p:nvCxnSpPr>
        <p:spPr>
          <a:xfrm>
            <a:off x="2214965" y="3033938"/>
            <a:ext cx="55836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E9C078EE-4C65-5C98-7708-AE2F9C473759}"/>
              </a:ext>
            </a:extLst>
          </p:cNvPr>
          <p:cNvCxnSpPr>
            <a:cxnSpLocks/>
          </p:cNvCxnSpPr>
          <p:nvPr/>
        </p:nvCxnSpPr>
        <p:spPr>
          <a:xfrm>
            <a:off x="4396867" y="3033938"/>
            <a:ext cx="181826" cy="453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8E1E970-4F93-6251-1C37-0FF4B6767D8B}"/>
              </a:ext>
            </a:extLst>
          </p:cNvPr>
          <p:cNvCxnSpPr>
            <a:cxnSpLocks/>
          </p:cNvCxnSpPr>
          <p:nvPr/>
        </p:nvCxnSpPr>
        <p:spPr>
          <a:xfrm>
            <a:off x="6776764" y="3048792"/>
            <a:ext cx="271131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35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Resultados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AE07B2-D9A9-6E89-294E-B5FF810EFE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69"/>
          <a:stretch/>
        </p:blipFill>
        <p:spPr>
          <a:xfrm>
            <a:off x="3323043" y="1367365"/>
            <a:ext cx="5333003" cy="2991555"/>
          </a:xfrm>
          <a:prstGeom prst="rect">
            <a:avLst/>
          </a:prstGeom>
        </p:spPr>
      </p:pic>
      <p:sp>
        <p:nvSpPr>
          <p:cNvPr id="8" name="Google Shape;490;p49">
            <a:extLst>
              <a:ext uri="{FF2B5EF4-FFF2-40B4-BE49-F238E27FC236}">
                <a16:creationId xmlns:a16="http://schemas.microsoft.com/office/drawing/2014/main" id="{70E7EF20-BA33-88B3-B622-8EDF5FA21E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6756" y="19063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Erro Médio Absoluto: </a:t>
            </a:r>
            <a:r>
              <a:rPr lang="de" b="1" dirty="0"/>
              <a:t>2.000</a:t>
            </a:r>
            <a:r>
              <a:rPr lang="de" dirty="0"/>
              <a:t> beneficiários</a:t>
            </a:r>
            <a:endParaRPr dirty="0"/>
          </a:p>
        </p:txBody>
      </p:sp>
      <p:sp>
        <p:nvSpPr>
          <p:cNvPr id="9" name="Google Shape;490;p49">
            <a:extLst>
              <a:ext uri="{FF2B5EF4-FFF2-40B4-BE49-F238E27FC236}">
                <a16:creationId xmlns:a16="http://schemas.microsoft.com/office/drawing/2014/main" id="{EB7E087B-FA81-5B19-D553-02088034C7F8}"/>
              </a:ext>
            </a:extLst>
          </p:cNvPr>
          <p:cNvSpPr txBox="1">
            <a:spLocks/>
          </p:cNvSpPr>
          <p:nvPr/>
        </p:nvSpPr>
        <p:spPr>
          <a:xfrm>
            <a:off x="882909" y="2798122"/>
            <a:ext cx="1978200" cy="92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/>
            <a:r>
              <a:rPr lang="pt-BR" dirty="0"/>
              <a:t>O modelo explica cerca </a:t>
            </a:r>
            <a:r>
              <a:rPr lang="pt-BR" b="1" dirty="0"/>
              <a:t>de 65% da variabilidade </a:t>
            </a:r>
            <a:r>
              <a:rPr lang="pt-BR" dirty="0"/>
              <a:t>da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Análise dos resíduos</a:t>
            </a:r>
            <a:endParaRPr dirty="0"/>
          </a:p>
        </p:txBody>
      </p:sp>
      <p:sp>
        <p:nvSpPr>
          <p:cNvPr id="464" name="Google Shape;464;p47"/>
          <p:cNvSpPr txBox="1">
            <a:spLocks noGrp="1"/>
          </p:cNvSpPr>
          <p:nvPr>
            <p:ph type="subTitle" idx="1"/>
          </p:nvPr>
        </p:nvSpPr>
        <p:spPr>
          <a:xfrm>
            <a:off x="3806844" y="2877970"/>
            <a:ext cx="2548114" cy="400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Sobreconcentração</a:t>
            </a:r>
            <a:endParaRPr dirty="0"/>
          </a:p>
        </p:txBody>
      </p:sp>
      <p:pic>
        <p:nvPicPr>
          <p:cNvPr id="1026" name="Picture 2" descr="Introdução aos resíduos (artigo) | Khan Academy">
            <a:extLst>
              <a:ext uri="{FF2B5EF4-FFF2-40B4-BE49-F238E27FC236}">
                <a16:creationId xmlns:a16="http://schemas.microsoft.com/office/drawing/2014/main" id="{00B791C0-9EBB-932A-29A3-E353234C2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45" y="1636884"/>
            <a:ext cx="2381956" cy="238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ela 9">
            <a:extLst>
              <a:ext uri="{FF2B5EF4-FFF2-40B4-BE49-F238E27FC236}">
                <a16:creationId xmlns:a16="http://schemas.microsoft.com/office/drawing/2014/main" id="{AB4D64EA-F529-5D56-6934-B7BDA1A8A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11379"/>
              </p:ext>
            </p:extLst>
          </p:nvPr>
        </p:nvGraphicFramePr>
        <p:xfrm>
          <a:off x="3806844" y="1712593"/>
          <a:ext cx="4748088" cy="1005840"/>
        </p:xfrm>
        <a:graphic>
          <a:graphicData uri="http://schemas.openxmlformats.org/drawingml/2006/table">
            <a:tbl>
              <a:tblPr firstRow="1" bandRow="1">
                <a:tableStyleId>{05C4CE56-C979-4C8F-86EA-88DA58A280E8}</a:tableStyleId>
              </a:tblPr>
              <a:tblGrid>
                <a:gridCol w="1508088">
                  <a:extLst>
                    <a:ext uri="{9D8B030D-6E8A-4147-A177-3AD203B41FA5}">
                      <a16:colId xmlns:a16="http://schemas.microsoft.com/office/drawing/2014/main" val="83094818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3578012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05390896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88043644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chivo" panose="020B0604020202020204" charset="0"/>
                          <a:cs typeface="Archivo" panose="020B0604020202020204" charset="0"/>
                        </a:rPr>
                        <a:t>Município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chivo" panose="020B0604020202020204" charset="0"/>
                          <a:cs typeface="Archivo" panose="020B0604020202020204" charset="0"/>
                        </a:rPr>
                        <a:t>Benef.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chivo" panose="020B0604020202020204" charset="0"/>
                          <a:cs typeface="Archivo" panose="020B0604020202020204" charset="0"/>
                        </a:rPr>
                        <a:t>Benef. Prev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chivo" panose="020B0604020202020204" charset="0"/>
                          <a:cs typeface="Archivo" panose="020B0604020202020204" charset="0"/>
                        </a:rPr>
                        <a:t>Resíduo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706372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Curitiba - PR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106.144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290.664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-184.520</a:t>
                      </a:r>
                    </a:p>
                  </a:txBody>
                  <a:tcPr marL="9525" marR="9525" marT="38100" marB="38100" anchor="b"/>
                </a:tc>
                <a:extLst>
                  <a:ext uri="{0D108BD9-81ED-4DB2-BD59-A6C34878D82A}">
                    <a16:rowId xmlns:a16="http://schemas.microsoft.com/office/drawing/2014/main" val="553278088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Brasília - DF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259.790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408.861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-149.071</a:t>
                      </a:r>
                    </a:p>
                  </a:txBody>
                  <a:tcPr marL="9525" marR="9525" marT="38100" marB="38100" anchor="b"/>
                </a:tc>
                <a:extLst>
                  <a:ext uri="{0D108BD9-81ED-4DB2-BD59-A6C34878D82A}">
                    <a16:rowId xmlns:a16="http://schemas.microsoft.com/office/drawing/2014/main" val="3352121113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Goiânia - GO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90.694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223.331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-132.636</a:t>
                      </a:r>
                    </a:p>
                  </a:txBody>
                  <a:tcPr marL="9525" marR="9525" marT="38100" marB="38100" anchor="b"/>
                </a:tc>
                <a:extLst>
                  <a:ext uri="{0D108BD9-81ED-4DB2-BD59-A6C34878D82A}">
                    <a16:rowId xmlns:a16="http://schemas.microsoft.com/office/drawing/2014/main" val="1913401499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F579443-384E-C86C-80DB-41E6D17E5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389938"/>
              </p:ext>
            </p:extLst>
          </p:nvPr>
        </p:nvGraphicFramePr>
        <p:xfrm>
          <a:off x="3806844" y="3355675"/>
          <a:ext cx="4748088" cy="1005840"/>
        </p:xfrm>
        <a:graphic>
          <a:graphicData uri="http://schemas.openxmlformats.org/drawingml/2006/table">
            <a:tbl>
              <a:tblPr firstRow="1" bandRow="1">
                <a:tableStyleId>{05C4CE56-C979-4C8F-86EA-88DA58A280E8}</a:tableStyleId>
              </a:tblPr>
              <a:tblGrid>
                <a:gridCol w="1508088">
                  <a:extLst>
                    <a:ext uri="{9D8B030D-6E8A-4147-A177-3AD203B41FA5}">
                      <a16:colId xmlns:a16="http://schemas.microsoft.com/office/drawing/2014/main" val="83094818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3578012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05390896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88043644"/>
                    </a:ext>
                  </a:extLst>
                </a:gridCol>
              </a:tblGrid>
              <a:tr h="220663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chivo" panose="020B0604020202020204" charset="0"/>
                          <a:cs typeface="Archivo" panose="020B0604020202020204" charset="0"/>
                        </a:rPr>
                        <a:t>Município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chivo" panose="020B0604020202020204" charset="0"/>
                          <a:cs typeface="Archivo" panose="020B0604020202020204" charset="0"/>
                        </a:rPr>
                        <a:t>Benef.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chivo" panose="020B0604020202020204" charset="0"/>
                          <a:cs typeface="Archivo" panose="020B0604020202020204" charset="0"/>
                        </a:rPr>
                        <a:t>Benef. Prev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chivo" panose="020B0604020202020204" charset="0"/>
                          <a:cs typeface="Archivo" panose="020B0604020202020204" charset="0"/>
                        </a:rPr>
                        <a:t>Resíduo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706372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São Paulo - SP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1.343.725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1.040.868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302.856</a:t>
                      </a:r>
                    </a:p>
                  </a:txBody>
                  <a:tcPr marL="9525" marR="9525" marT="38100" marB="38100" anchor="b"/>
                </a:tc>
                <a:extLst>
                  <a:ext uri="{0D108BD9-81ED-4DB2-BD59-A6C34878D82A}">
                    <a16:rowId xmlns:a16="http://schemas.microsoft.com/office/drawing/2014/main" val="553278088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Fortaleza - CE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600.430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456.464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143.966</a:t>
                      </a:r>
                    </a:p>
                  </a:txBody>
                  <a:tcPr marL="9525" marR="9525" marT="38100" marB="38100" anchor="b"/>
                </a:tc>
                <a:extLst>
                  <a:ext uri="{0D108BD9-81ED-4DB2-BD59-A6C34878D82A}">
                    <a16:rowId xmlns:a16="http://schemas.microsoft.com/office/drawing/2014/main" val="3352121113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Rio de Janeiro - RJ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804.858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674.992</a:t>
                      </a:r>
                    </a:p>
                  </a:txBody>
                  <a:tcPr marL="9525" marR="9525" marT="38100" marB="381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chivo" panose="020B0604020202020204" charset="0"/>
                          <a:cs typeface="Archivo" panose="020B0604020202020204" charset="0"/>
                        </a:rPr>
                        <a:t>129.866</a:t>
                      </a:r>
                    </a:p>
                  </a:txBody>
                  <a:tcPr marL="9525" marR="9525" marT="38100" marB="38100" anchor="b"/>
                </a:tc>
                <a:extLst>
                  <a:ext uri="{0D108BD9-81ED-4DB2-BD59-A6C34878D82A}">
                    <a16:rowId xmlns:a16="http://schemas.microsoft.com/office/drawing/2014/main" val="1913401499"/>
                  </a:ext>
                </a:extLst>
              </a:tr>
            </a:tbl>
          </a:graphicData>
        </a:graphic>
      </p:graphicFrame>
      <p:sp>
        <p:nvSpPr>
          <p:cNvPr id="11" name="Google Shape;464;p47">
            <a:extLst>
              <a:ext uri="{FF2B5EF4-FFF2-40B4-BE49-F238E27FC236}">
                <a16:creationId xmlns:a16="http://schemas.microsoft.com/office/drawing/2014/main" id="{69C55A41-BBAA-1960-00D9-234AA7C0927A}"/>
              </a:ext>
            </a:extLst>
          </p:cNvPr>
          <p:cNvSpPr txBox="1">
            <a:spLocks/>
          </p:cNvSpPr>
          <p:nvPr/>
        </p:nvSpPr>
        <p:spPr>
          <a:xfrm>
            <a:off x="3806844" y="1236785"/>
            <a:ext cx="2548114" cy="40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2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2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2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2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2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2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2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"/>
              <a:buNone/>
              <a:defRPr sz="2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pt-BR" dirty="0"/>
              <a:t>Subatendimento</a:t>
            </a:r>
          </a:p>
        </p:txBody>
      </p:sp>
    </p:spTree>
    <p:extLst>
      <p:ext uri="{BB962C8B-B14F-4D97-AF65-F5344CB8AC3E}">
        <p14:creationId xmlns:p14="http://schemas.microsoft.com/office/powerpoint/2010/main" val="2106088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44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/>
            <p:cNvPicPr preferRelativeResize="0"/>
            <p:nvPr/>
          </p:nvPicPr>
          <p:blipFill rotWithShape="1">
            <a:blip r:embed="rId3">
              <a:alphaModFix/>
            </a:blip>
            <a:srcRect t="1400" r="83036" b="-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/>
            <p:cNvPicPr preferRelativeResize="0"/>
            <p:nvPr/>
          </p:nvPicPr>
          <p:blipFill rotWithShape="1">
            <a:blip r:embed="rId3">
              <a:alphaModFix/>
            </a:blip>
            <a:srcRect t="1400" r="83036" b="-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357D0C-0937-0A9D-D3D5-4C462C7507D5}"/>
              </a:ext>
            </a:extLst>
          </p:cNvPr>
          <p:cNvSpPr txBox="1"/>
          <p:nvPr/>
        </p:nvSpPr>
        <p:spPr>
          <a:xfrm>
            <a:off x="1467980" y="477724"/>
            <a:ext cx="6208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pt-BR" sz="1800" dirty="0">
                <a:solidFill>
                  <a:schemeClr val="dk1"/>
                </a:solidFill>
                <a:latin typeface="Archivo"/>
                <a:cs typeface="Archivo"/>
                <a:sym typeface="Archivo"/>
              </a:rPr>
              <a:t>Como esse modelo pode apoiar planejamento orçamentário e políticas públicas?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24B4C8F-FBF2-6B83-9FA3-91E6F383EFC5}"/>
              </a:ext>
            </a:extLst>
          </p:cNvPr>
          <p:cNvSpPr txBox="1"/>
          <p:nvPr/>
        </p:nvSpPr>
        <p:spPr>
          <a:xfrm>
            <a:off x="1741310" y="1531412"/>
            <a:ext cx="5661378" cy="2611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BR" b="1" dirty="0">
                <a:latin typeface="Archivo" panose="020B0604020202020204" charset="0"/>
                <a:cs typeface="Archivo" panose="020B0604020202020204" charset="0"/>
              </a:rPr>
              <a:t>Painel de Decisão</a:t>
            </a:r>
            <a:r>
              <a:rPr lang="pt-BR" dirty="0">
                <a:latin typeface="Archivo" panose="020B0604020202020204" charset="0"/>
                <a:cs typeface="Archivo" panose="020B0604020202020204" charset="0"/>
              </a:rPr>
              <a:t>: Transforma os dados do Censo em inteligência visual e estratégica.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BR" b="1" dirty="0">
                <a:latin typeface="Archivo" panose="020B0604020202020204" charset="0"/>
                <a:cs typeface="Archivo" panose="020B0604020202020204" charset="0"/>
              </a:rPr>
              <a:t>Planejamento Orçamentário</a:t>
            </a:r>
            <a:r>
              <a:rPr lang="pt-BR" dirty="0">
                <a:latin typeface="Archivo" panose="020B0604020202020204" charset="0"/>
                <a:cs typeface="Archivo" panose="020B0604020202020204" charset="0"/>
              </a:rPr>
              <a:t>: Foco imediato em auditorias e corte de gastos indevidos (Sobreconcentração).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BR" b="1" dirty="0">
                <a:latin typeface="Archivo" panose="020B0604020202020204" charset="0"/>
                <a:cs typeface="Archivo" panose="020B0604020202020204" charset="0"/>
              </a:rPr>
              <a:t>Políticas Públicas</a:t>
            </a:r>
            <a:r>
              <a:rPr lang="pt-BR" dirty="0">
                <a:latin typeface="Archivo" panose="020B0604020202020204" charset="0"/>
                <a:cs typeface="Archivo" panose="020B0604020202020204" charset="0"/>
              </a:rPr>
              <a:t>: Direciona a "Busca Ativa" para incluir famílias invisíveis no programa (Subatendimento).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Considerações ...</a:t>
            </a:r>
            <a:endParaRPr dirty="0"/>
          </a:p>
        </p:txBody>
      </p:sp>
      <p:sp>
        <p:nvSpPr>
          <p:cNvPr id="490" name="Google Shape;490;p49"/>
          <p:cNvSpPr txBox="1">
            <a:spLocks noGrp="1"/>
          </p:cNvSpPr>
          <p:nvPr>
            <p:ph type="subTitle" idx="1"/>
          </p:nvPr>
        </p:nvSpPr>
        <p:spPr>
          <a:xfrm>
            <a:off x="1217043" y="21609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Nos descreve o cenário de 2021.</a:t>
            </a:r>
            <a:endParaRPr dirty="0"/>
          </a:p>
        </p:txBody>
      </p:sp>
      <p:sp>
        <p:nvSpPr>
          <p:cNvPr id="491" name="Google Shape;491;p49"/>
          <p:cNvSpPr txBox="1">
            <a:spLocks noGrp="1"/>
          </p:cNvSpPr>
          <p:nvPr>
            <p:ph type="subTitle" idx="2"/>
          </p:nvPr>
        </p:nvSpPr>
        <p:spPr>
          <a:xfrm>
            <a:off x="5929625" y="216576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Falta de safras para maior generalização e comparação temporal</a:t>
            </a:r>
            <a:endParaRPr dirty="0"/>
          </a:p>
        </p:txBody>
      </p:sp>
      <p:sp>
        <p:nvSpPr>
          <p:cNvPr id="493" name="Google Shape;493;p49"/>
          <p:cNvSpPr txBox="1">
            <a:spLocks noGrp="1"/>
          </p:cNvSpPr>
          <p:nvPr>
            <p:ph type="subTitle" idx="5"/>
          </p:nvPr>
        </p:nvSpPr>
        <p:spPr>
          <a:xfrm>
            <a:off x="1217043" y="1825575"/>
            <a:ext cx="2733152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Modelo Descritivo</a:t>
            </a:r>
            <a:endParaRPr dirty="0"/>
          </a:p>
        </p:txBody>
      </p:sp>
      <p:sp>
        <p:nvSpPr>
          <p:cNvPr id="494" name="Google Shape;494;p49"/>
          <p:cNvSpPr txBox="1">
            <a:spLocks noGrp="1"/>
          </p:cNvSpPr>
          <p:nvPr>
            <p:ph type="subTitle" idx="6"/>
          </p:nvPr>
        </p:nvSpPr>
        <p:spPr>
          <a:xfrm>
            <a:off x="3515247" y="3263456"/>
            <a:ext cx="1978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Poucos dados</a:t>
            </a:r>
            <a:endParaRPr dirty="0"/>
          </a:p>
        </p:txBody>
      </p:sp>
      <p:sp>
        <p:nvSpPr>
          <p:cNvPr id="495" name="Google Shape;495;p49"/>
          <p:cNvSpPr txBox="1">
            <a:spLocks noGrp="1"/>
          </p:cNvSpPr>
          <p:nvPr>
            <p:ph type="subTitle" idx="3"/>
          </p:nvPr>
        </p:nvSpPr>
        <p:spPr>
          <a:xfrm>
            <a:off x="3515247" y="3598856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Base de dados com 5 mil registros.</a:t>
            </a:r>
          </a:p>
        </p:txBody>
      </p:sp>
      <p:sp>
        <p:nvSpPr>
          <p:cNvPr id="497" name="Google Shape;497;p49"/>
          <p:cNvSpPr txBox="1">
            <a:spLocks noGrp="1"/>
          </p:cNvSpPr>
          <p:nvPr>
            <p:ph type="subTitle" idx="7"/>
          </p:nvPr>
        </p:nvSpPr>
        <p:spPr>
          <a:xfrm>
            <a:off x="5929621" y="1830365"/>
            <a:ext cx="19782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Base única</a:t>
            </a:r>
            <a:endParaRPr dirty="0"/>
          </a:p>
        </p:txBody>
      </p:sp>
      <p:sp>
        <p:nvSpPr>
          <p:cNvPr id="498" name="Google Shape;498;p49"/>
          <p:cNvSpPr/>
          <p:nvPr/>
        </p:nvSpPr>
        <p:spPr>
          <a:xfrm>
            <a:off x="6034422" y="1393592"/>
            <a:ext cx="282590" cy="281664"/>
          </a:xfrm>
          <a:custGeom>
            <a:avLst/>
            <a:gdLst/>
            <a:ahLst/>
            <a:cxnLst/>
            <a:rect l="l" t="t" r="r" b="b"/>
            <a:pathLst>
              <a:path w="918" h="915" extrusionOk="0">
                <a:moveTo>
                  <a:pt x="914" y="703"/>
                </a:moveTo>
                <a:cubicBezTo>
                  <a:pt x="881" y="605"/>
                  <a:pt x="783" y="535"/>
                  <a:pt x="679" y="535"/>
                </a:cubicBezTo>
                <a:lnTo>
                  <a:pt x="192" y="535"/>
                </a:lnTo>
                <a:cubicBezTo>
                  <a:pt x="89" y="535"/>
                  <a:pt x="1" y="622"/>
                  <a:pt x="0" y="725"/>
                </a:cubicBezTo>
                <a:cubicBezTo>
                  <a:pt x="-1" y="771"/>
                  <a:pt x="37" y="808"/>
                  <a:pt x="83" y="808"/>
                </a:cubicBezTo>
                <a:lnTo>
                  <a:pt x="87" y="808"/>
                </a:lnTo>
                <a:cubicBezTo>
                  <a:pt x="99" y="747"/>
                  <a:pt x="154" y="700"/>
                  <a:pt x="219" y="700"/>
                </a:cubicBezTo>
                <a:cubicBezTo>
                  <a:pt x="283" y="700"/>
                  <a:pt x="340" y="747"/>
                  <a:pt x="352" y="808"/>
                </a:cubicBezTo>
                <a:lnTo>
                  <a:pt x="574" y="808"/>
                </a:lnTo>
                <a:cubicBezTo>
                  <a:pt x="587" y="747"/>
                  <a:pt x="641" y="700"/>
                  <a:pt x="706" y="700"/>
                </a:cubicBezTo>
                <a:cubicBezTo>
                  <a:pt x="771" y="700"/>
                  <a:pt x="825" y="746"/>
                  <a:pt x="838" y="807"/>
                </a:cubicBezTo>
                <a:cubicBezTo>
                  <a:pt x="862" y="805"/>
                  <a:pt x="889" y="793"/>
                  <a:pt x="903" y="774"/>
                </a:cubicBezTo>
                <a:cubicBezTo>
                  <a:pt x="918" y="753"/>
                  <a:pt x="922" y="727"/>
                  <a:pt x="914" y="703"/>
                </a:cubicBezTo>
                <a:moveTo>
                  <a:pt x="462" y="701"/>
                </a:moveTo>
                <a:lnTo>
                  <a:pt x="410" y="701"/>
                </a:lnTo>
                <a:cubicBezTo>
                  <a:pt x="396" y="701"/>
                  <a:pt x="383" y="690"/>
                  <a:pt x="382" y="676"/>
                </a:cubicBezTo>
                <a:cubicBezTo>
                  <a:pt x="381" y="660"/>
                  <a:pt x="393" y="647"/>
                  <a:pt x="409" y="647"/>
                </a:cubicBezTo>
                <a:lnTo>
                  <a:pt x="462" y="647"/>
                </a:lnTo>
                <a:cubicBezTo>
                  <a:pt x="476" y="647"/>
                  <a:pt x="488" y="657"/>
                  <a:pt x="489" y="671"/>
                </a:cubicBezTo>
                <a:cubicBezTo>
                  <a:pt x="491" y="687"/>
                  <a:pt x="478" y="701"/>
                  <a:pt x="462" y="701"/>
                </a:cubicBezTo>
                <a:moveTo>
                  <a:pt x="190" y="482"/>
                </a:moveTo>
                <a:lnTo>
                  <a:pt x="381" y="482"/>
                </a:lnTo>
                <a:lnTo>
                  <a:pt x="381" y="374"/>
                </a:lnTo>
                <a:lnTo>
                  <a:pt x="324" y="374"/>
                </a:lnTo>
                <a:cubicBezTo>
                  <a:pt x="266" y="374"/>
                  <a:pt x="213" y="412"/>
                  <a:pt x="195" y="468"/>
                </a:cubicBezTo>
                <a:lnTo>
                  <a:pt x="190" y="482"/>
                </a:lnTo>
                <a:moveTo>
                  <a:pt x="139" y="321"/>
                </a:moveTo>
                <a:cubicBezTo>
                  <a:pt x="154" y="321"/>
                  <a:pt x="166" y="309"/>
                  <a:pt x="166" y="295"/>
                </a:cubicBezTo>
                <a:cubicBezTo>
                  <a:pt x="166" y="162"/>
                  <a:pt x="276" y="53"/>
                  <a:pt x="409" y="53"/>
                </a:cubicBezTo>
                <a:cubicBezTo>
                  <a:pt x="542" y="53"/>
                  <a:pt x="652" y="162"/>
                  <a:pt x="652" y="295"/>
                </a:cubicBezTo>
                <a:cubicBezTo>
                  <a:pt x="652" y="310"/>
                  <a:pt x="664" y="321"/>
                  <a:pt x="679" y="321"/>
                </a:cubicBezTo>
                <a:cubicBezTo>
                  <a:pt x="693" y="321"/>
                  <a:pt x="705" y="309"/>
                  <a:pt x="705" y="295"/>
                </a:cubicBezTo>
                <a:cubicBezTo>
                  <a:pt x="705" y="132"/>
                  <a:pt x="571" y="0"/>
                  <a:pt x="409" y="0"/>
                </a:cubicBezTo>
                <a:cubicBezTo>
                  <a:pt x="246" y="0"/>
                  <a:pt x="112" y="132"/>
                  <a:pt x="112" y="295"/>
                </a:cubicBezTo>
                <a:cubicBezTo>
                  <a:pt x="112" y="309"/>
                  <a:pt x="124" y="321"/>
                  <a:pt x="139" y="321"/>
                </a:cubicBezTo>
                <a:moveTo>
                  <a:pt x="409" y="268"/>
                </a:moveTo>
                <a:cubicBezTo>
                  <a:pt x="424" y="268"/>
                  <a:pt x="436" y="280"/>
                  <a:pt x="436" y="295"/>
                </a:cubicBezTo>
                <a:cubicBezTo>
                  <a:pt x="436" y="309"/>
                  <a:pt x="448" y="321"/>
                  <a:pt x="462" y="321"/>
                </a:cubicBezTo>
                <a:cubicBezTo>
                  <a:pt x="477" y="321"/>
                  <a:pt x="489" y="309"/>
                  <a:pt x="489" y="295"/>
                </a:cubicBezTo>
                <a:cubicBezTo>
                  <a:pt x="489" y="250"/>
                  <a:pt x="453" y="214"/>
                  <a:pt x="409" y="214"/>
                </a:cubicBezTo>
                <a:cubicBezTo>
                  <a:pt x="364" y="214"/>
                  <a:pt x="328" y="250"/>
                  <a:pt x="328" y="295"/>
                </a:cubicBezTo>
                <a:cubicBezTo>
                  <a:pt x="328" y="309"/>
                  <a:pt x="340" y="321"/>
                  <a:pt x="355" y="321"/>
                </a:cubicBezTo>
                <a:cubicBezTo>
                  <a:pt x="370" y="321"/>
                  <a:pt x="382" y="309"/>
                  <a:pt x="382" y="295"/>
                </a:cubicBezTo>
                <a:cubicBezTo>
                  <a:pt x="382" y="280"/>
                  <a:pt x="394" y="268"/>
                  <a:pt x="409" y="268"/>
                </a:cubicBezTo>
                <a:moveTo>
                  <a:pt x="273" y="295"/>
                </a:moveTo>
                <a:cubicBezTo>
                  <a:pt x="273" y="221"/>
                  <a:pt x="335" y="161"/>
                  <a:pt x="409" y="161"/>
                </a:cubicBezTo>
                <a:cubicBezTo>
                  <a:pt x="483" y="161"/>
                  <a:pt x="545" y="221"/>
                  <a:pt x="545" y="295"/>
                </a:cubicBezTo>
                <a:cubicBezTo>
                  <a:pt x="545" y="310"/>
                  <a:pt x="556" y="321"/>
                  <a:pt x="571" y="321"/>
                </a:cubicBezTo>
                <a:cubicBezTo>
                  <a:pt x="585" y="321"/>
                  <a:pt x="598" y="309"/>
                  <a:pt x="598" y="295"/>
                </a:cubicBezTo>
                <a:cubicBezTo>
                  <a:pt x="598" y="191"/>
                  <a:pt x="512" y="107"/>
                  <a:pt x="409" y="107"/>
                </a:cubicBezTo>
                <a:cubicBezTo>
                  <a:pt x="305" y="107"/>
                  <a:pt x="219" y="191"/>
                  <a:pt x="219" y="295"/>
                </a:cubicBezTo>
                <a:cubicBezTo>
                  <a:pt x="219" y="310"/>
                  <a:pt x="231" y="321"/>
                  <a:pt x="246" y="321"/>
                </a:cubicBezTo>
                <a:cubicBezTo>
                  <a:pt x="261" y="321"/>
                  <a:pt x="273" y="309"/>
                  <a:pt x="273" y="295"/>
                </a:cubicBezTo>
                <a:moveTo>
                  <a:pt x="705" y="754"/>
                </a:moveTo>
                <a:cubicBezTo>
                  <a:pt x="661" y="754"/>
                  <a:pt x="625" y="790"/>
                  <a:pt x="625" y="834"/>
                </a:cubicBezTo>
                <a:cubicBezTo>
                  <a:pt x="625" y="879"/>
                  <a:pt x="660" y="915"/>
                  <a:pt x="705" y="915"/>
                </a:cubicBezTo>
                <a:cubicBezTo>
                  <a:pt x="749" y="915"/>
                  <a:pt x="786" y="879"/>
                  <a:pt x="786" y="834"/>
                </a:cubicBezTo>
                <a:cubicBezTo>
                  <a:pt x="786" y="790"/>
                  <a:pt x="750" y="754"/>
                  <a:pt x="705" y="754"/>
                </a:cubicBezTo>
                <a:moveTo>
                  <a:pt x="219" y="754"/>
                </a:moveTo>
                <a:cubicBezTo>
                  <a:pt x="175" y="754"/>
                  <a:pt x="139" y="790"/>
                  <a:pt x="139" y="834"/>
                </a:cubicBezTo>
                <a:cubicBezTo>
                  <a:pt x="139" y="879"/>
                  <a:pt x="175" y="915"/>
                  <a:pt x="219" y="915"/>
                </a:cubicBezTo>
                <a:cubicBezTo>
                  <a:pt x="264" y="915"/>
                  <a:pt x="300" y="879"/>
                  <a:pt x="300" y="834"/>
                </a:cubicBezTo>
                <a:cubicBezTo>
                  <a:pt x="300" y="790"/>
                  <a:pt x="264" y="754"/>
                  <a:pt x="219" y="754"/>
                </a:cubicBezTo>
                <a:moveTo>
                  <a:pt x="620" y="466"/>
                </a:moveTo>
                <a:cubicBezTo>
                  <a:pt x="602" y="411"/>
                  <a:pt x="549" y="374"/>
                  <a:pt x="491" y="374"/>
                </a:cubicBezTo>
                <a:lnTo>
                  <a:pt x="435" y="374"/>
                </a:lnTo>
                <a:lnTo>
                  <a:pt x="435" y="482"/>
                </a:lnTo>
                <a:lnTo>
                  <a:pt x="626" y="482"/>
                </a:lnTo>
                <a:lnTo>
                  <a:pt x="620" y="4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9"/>
          <p:cNvSpPr/>
          <p:nvPr/>
        </p:nvSpPr>
        <p:spPr>
          <a:xfrm>
            <a:off x="1323734" y="1391502"/>
            <a:ext cx="281975" cy="281664"/>
          </a:xfrm>
          <a:custGeom>
            <a:avLst/>
            <a:gdLst/>
            <a:ahLst/>
            <a:cxnLst/>
            <a:rect l="l" t="t" r="r" b="b"/>
            <a:pathLst>
              <a:path w="916" h="915" extrusionOk="0">
                <a:moveTo>
                  <a:pt x="161" y="540"/>
                </a:moveTo>
                <a:lnTo>
                  <a:pt x="54" y="540"/>
                </a:lnTo>
                <a:cubicBezTo>
                  <a:pt x="24" y="540"/>
                  <a:pt x="0" y="564"/>
                  <a:pt x="0" y="594"/>
                </a:cubicBezTo>
                <a:lnTo>
                  <a:pt x="0" y="647"/>
                </a:lnTo>
                <a:lnTo>
                  <a:pt x="214" y="647"/>
                </a:lnTo>
                <a:lnTo>
                  <a:pt x="214" y="594"/>
                </a:lnTo>
                <a:cubicBezTo>
                  <a:pt x="214" y="564"/>
                  <a:pt x="190" y="540"/>
                  <a:pt x="161" y="540"/>
                </a:cubicBezTo>
                <a:moveTo>
                  <a:pt x="0" y="862"/>
                </a:moveTo>
                <a:cubicBezTo>
                  <a:pt x="0" y="891"/>
                  <a:pt x="24" y="915"/>
                  <a:pt x="54" y="915"/>
                </a:cubicBezTo>
                <a:lnTo>
                  <a:pt x="161" y="915"/>
                </a:lnTo>
                <a:cubicBezTo>
                  <a:pt x="190" y="915"/>
                  <a:pt x="214" y="891"/>
                  <a:pt x="214" y="862"/>
                </a:cubicBezTo>
                <a:lnTo>
                  <a:pt x="214" y="808"/>
                </a:lnTo>
                <a:lnTo>
                  <a:pt x="0" y="808"/>
                </a:lnTo>
                <a:lnTo>
                  <a:pt x="0" y="862"/>
                </a:lnTo>
                <a:moveTo>
                  <a:pt x="582" y="430"/>
                </a:moveTo>
                <a:cubicBezTo>
                  <a:pt x="556" y="402"/>
                  <a:pt x="540" y="365"/>
                  <a:pt x="540" y="323"/>
                </a:cubicBezTo>
                <a:cubicBezTo>
                  <a:pt x="540" y="282"/>
                  <a:pt x="556" y="244"/>
                  <a:pt x="582" y="216"/>
                </a:cubicBezTo>
                <a:lnTo>
                  <a:pt x="485" y="216"/>
                </a:lnTo>
                <a:lnTo>
                  <a:pt x="485" y="156"/>
                </a:lnTo>
                <a:cubicBezTo>
                  <a:pt x="518" y="145"/>
                  <a:pt x="541" y="113"/>
                  <a:pt x="538" y="75"/>
                </a:cubicBezTo>
                <a:cubicBezTo>
                  <a:pt x="535" y="36"/>
                  <a:pt x="503" y="4"/>
                  <a:pt x="464" y="1"/>
                </a:cubicBezTo>
                <a:cubicBezTo>
                  <a:pt x="417" y="-2"/>
                  <a:pt x="378" y="35"/>
                  <a:pt x="378" y="81"/>
                </a:cubicBezTo>
                <a:cubicBezTo>
                  <a:pt x="378" y="116"/>
                  <a:pt x="400" y="145"/>
                  <a:pt x="431" y="156"/>
                </a:cubicBezTo>
                <a:lnTo>
                  <a:pt x="431" y="216"/>
                </a:lnTo>
                <a:lnTo>
                  <a:pt x="334" y="216"/>
                </a:lnTo>
                <a:cubicBezTo>
                  <a:pt x="360" y="244"/>
                  <a:pt x="376" y="282"/>
                  <a:pt x="376" y="323"/>
                </a:cubicBezTo>
                <a:cubicBezTo>
                  <a:pt x="376" y="365"/>
                  <a:pt x="360" y="402"/>
                  <a:pt x="334" y="430"/>
                </a:cubicBezTo>
                <a:lnTo>
                  <a:pt x="582" y="430"/>
                </a:lnTo>
                <a:moveTo>
                  <a:pt x="0" y="754"/>
                </a:moveTo>
                <a:lnTo>
                  <a:pt x="214" y="754"/>
                </a:lnTo>
                <a:lnTo>
                  <a:pt x="214" y="701"/>
                </a:lnTo>
                <a:lnTo>
                  <a:pt x="0" y="701"/>
                </a:lnTo>
                <a:lnTo>
                  <a:pt x="0" y="754"/>
                </a:lnTo>
                <a:moveTo>
                  <a:pt x="701" y="862"/>
                </a:moveTo>
                <a:cubicBezTo>
                  <a:pt x="701" y="891"/>
                  <a:pt x="725" y="915"/>
                  <a:pt x="755" y="915"/>
                </a:cubicBezTo>
                <a:lnTo>
                  <a:pt x="862" y="915"/>
                </a:lnTo>
                <a:cubicBezTo>
                  <a:pt x="892" y="915"/>
                  <a:pt x="916" y="891"/>
                  <a:pt x="916" y="862"/>
                </a:cubicBezTo>
                <a:lnTo>
                  <a:pt x="916" y="808"/>
                </a:lnTo>
                <a:lnTo>
                  <a:pt x="701" y="808"/>
                </a:lnTo>
                <a:lnTo>
                  <a:pt x="701" y="862"/>
                </a:lnTo>
                <a:moveTo>
                  <a:pt x="701" y="754"/>
                </a:moveTo>
                <a:lnTo>
                  <a:pt x="916" y="754"/>
                </a:lnTo>
                <a:lnTo>
                  <a:pt x="916" y="701"/>
                </a:lnTo>
                <a:lnTo>
                  <a:pt x="701" y="701"/>
                </a:lnTo>
                <a:lnTo>
                  <a:pt x="701" y="754"/>
                </a:lnTo>
                <a:moveTo>
                  <a:pt x="862" y="540"/>
                </a:moveTo>
                <a:lnTo>
                  <a:pt x="755" y="540"/>
                </a:lnTo>
                <a:cubicBezTo>
                  <a:pt x="725" y="540"/>
                  <a:pt x="701" y="564"/>
                  <a:pt x="701" y="594"/>
                </a:cubicBezTo>
                <a:lnTo>
                  <a:pt x="701" y="647"/>
                </a:lnTo>
                <a:lnTo>
                  <a:pt x="916" y="647"/>
                </a:lnTo>
                <a:lnTo>
                  <a:pt x="916" y="594"/>
                </a:lnTo>
                <a:cubicBezTo>
                  <a:pt x="916" y="564"/>
                  <a:pt x="892" y="540"/>
                  <a:pt x="862" y="540"/>
                </a:cubicBezTo>
                <a:moveTo>
                  <a:pt x="567" y="540"/>
                </a:moveTo>
                <a:lnTo>
                  <a:pt x="541" y="540"/>
                </a:lnTo>
                <a:lnTo>
                  <a:pt x="541" y="484"/>
                </a:lnTo>
                <a:lnTo>
                  <a:pt x="375" y="484"/>
                </a:lnTo>
                <a:lnTo>
                  <a:pt x="375" y="540"/>
                </a:lnTo>
                <a:lnTo>
                  <a:pt x="349" y="540"/>
                </a:lnTo>
                <a:cubicBezTo>
                  <a:pt x="304" y="540"/>
                  <a:pt x="268" y="576"/>
                  <a:pt x="268" y="620"/>
                </a:cubicBezTo>
                <a:lnTo>
                  <a:pt x="268" y="781"/>
                </a:lnTo>
                <a:cubicBezTo>
                  <a:pt x="268" y="796"/>
                  <a:pt x="280" y="808"/>
                  <a:pt x="295" y="808"/>
                </a:cubicBezTo>
                <a:lnTo>
                  <a:pt x="621" y="808"/>
                </a:lnTo>
                <a:cubicBezTo>
                  <a:pt x="636" y="808"/>
                  <a:pt x="648" y="796"/>
                  <a:pt x="648" y="781"/>
                </a:cubicBezTo>
                <a:lnTo>
                  <a:pt x="648" y="620"/>
                </a:lnTo>
                <a:cubicBezTo>
                  <a:pt x="648" y="576"/>
                  <a:pt x="612" y="540"/>
                  <a:pt x="567" y="540"/>
                </a:cubicBezTo>
                <a:moveTo>
                  <a:pt x="513" y="701"/>
                </a:moveTo>
                <a:lnTo>
                  <a:pt x="403" y="701"/>
                </a:lnTo>
                <a:cubicBezTo>
                  <a:pt x="389" y="701"/>
                  <a:pt x="377" y="690"/>
                  <a:pt x="375" y="676"/>
                </a:cubicBezTo>
                <a:cubicBezTo>
                  <a:pt x="374" y="660"/>
                  <a:pt x="386" y="647"/>
                  <a:pt x="402" y="647"/>
                </a:cubicBezTo>
                <a:lnTo>
                  <a:pt x="512" y="647"/>
                </a:lnTo>
                <a:cubicBezTo>
                  <a:pt x="526" y="647"/>
                  <a:pt x="538" y="658"/>
                  <a:pt x="540" y="672"/>
                </a:cubicBezTo>
                <a:cubicBezTo>
                  <a:pt x="541" y="687"/>
                  <a:pt x="529" y="701"/>
                  <a:pt x="513" y="701"/>
                </a:cubicBezTo>
                <a:moveTo>
                  <a:pt x="322" y="323"/>
                </a:moveTo>
                <a:cubicBezTo>
                  <a:pt x="322" y="263"/>
                  <a:pt x="274" y="215"/>
                  <a:pt x="214" y="215"/>
                </a:cubicBezTo>
                <a:cubicBezTo>
                  <a:pt x="155" y="215"/>
                  <a:pt x="107" y="263"/>
                  <a:pt x="107" y="323"/>
                </a:cubicBezTo>
                <a:cubicBezTo>
                  <a:pt x="107" y="382"/>
                  <a:pt x="155" y="430"/>
                  <a:pt x="214" y="430"/>
                </a:cubicBezTo>
                <a:cubicBezTo>
                  <a:pt x="274" y="430"/>
                  <a:pt x="322" y="382"/>
                  <a:pt x="322" y="323"/>
                </a:cubicBezTo>
                <a:moveTo>
                  <a:pt x="214" y="350"/>
                </a:moveTo>
                <a:cubicBezTo>
                  <a:pt x="200" y="350"/>
                  <a:pt x="188" y="338"/>
                  <a:pt x="188" y="323"/>
                </a:cubicBezTo>
                <a:cubicBezTo>
                  <a:pt x="188" y="308"/>
                  <a:pt x="200" y="296"/>
                  <a:pt x="214" y="296"/>
                </a:cubicBezTo>
                <a:cubicBezTo>
                  <a:pt x="229" y="296"/>
                  <a:pt x="241" y="308"/>
                  <a:pt x="241" y="323"/>
                </a:cubicBezTo>
                <a:cubicBezTo>
                  <a:pt x="241" y="338"/>
                  <a:pt x="229" y="350"/>
                  <a:pt x="214" y="350"/>
                </a:cubicBezTo>
                <a:moveTo>
                  <a:pt x="808" y="323"/>
                </a:moveTo>
                <a:cubicBezTo>
                  <a:pt x="808" y="263"/>
                  <a:pt x="761" y="215"/>
                  <a:pt x="701" y="215"/>
                </a:cubicBezTo>
                <a:cubicBezTo>
                  <a:pt x="642" y="215"/>
                  <a:pt x="593" y="263"/>
                  <a:pt x="593" y="323"/>
                </a:cubicBezTo>
                <a:cubicBezTo>
                  <a:pt x="593" y="382"/>
                  <a:pt x="641" y="430"/>
                  <a:pt x="701" y="430"/>
                </a:cubicBezTo>
                <a:cubicBezTo>
                  <a:pt x="760" y="430"/>
                  <a:pt x="808" y="382"/>
                  <a:pt x="808" y="323"/>
                </a:cubicBezTo>
                <a:moveTo>
                  <a:pt x="701" y="350"/>
                </a:moveTo>
                <a:cubicBezTo>
                  <a:pt x="686" y="350"/>
                  <a:pt x="674" y="338"/>
                  <a:pt x="674" y="323"/>
                </a:cubicBezTo>
                <a:cubicBezTo>
                  <a:pt x="674" y="308"/>
                  <a:pt x="687" y="296"/>
                  <a:pt x="701" y="296"/>
                </a:cubicBezTo>
                <a:cubicBezTo>
                  <a:pt x="716" y="296"/>
                  <a:pt x="727" y="308"/>
                  <a:pt x="727" y="323"/>
                </a:cubicBezTo>
                <a:cubicBezTo>
                  <a:pt x="727" y="338"/>
                  <a:pt x="715" y="350"/>
                  <a:pt x="701" y="35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9"/>
          <p:cNvSpPr/>
          <p:nvPr/>
        </p:nvSpPr>
        <p:spPr>
          <a:xfrm>
            <a:off x="3621938" y="2826375"/>
            <a:ext cx="281667" cy="281972"/>
          </a:xfrm>
          <a:custGeom>
            <a:avLst/>
            <a:gdLst/>
            <a:ahLst/>
            <a:cxnLst/>
            <a:rect l="l" t="t" r="r" b="b"/>
            <a:pathLst>
              <a:path w="915" h="916" extrusionOk="0">
                <a:moveTo>
                  <a:pt x="226" y="809"/>
                </a:moveTo>
                <a:lnTo>
                  <a:pt x="156" y="809"/>
                </a:lnTo>
                <a:cubicBezTo>
                  <a:pt x="144" y="776"/>
                  <a:pt x="112" y="753"/>
                  <a:pt x="74" y="756"/>
                </a:cubicBezTo>
                <a:cubicBezTo>
                  <a:pt x="35" y="758"/>
                  <a:pt x="3" y="790"/>
                  <a:pt x="0" y="830"/>
                </a:cubicBezTo>
                <a:cubicBezTo>
                  <a:pt x="-3" y="877"/>
                  <a:pt x="34" y="916"/>
                  <a:pt x="80" y="916"/>
                </a:cubicBezTo>
                <a:cubicBezTo>
                  <a:pt x="115" y="916"/>
                  <a:pt x="145" y="894"/>
                  <a:pt x="156" y="863"/>
                </a:cubicBezTo>
                <a:lnTo>
                  <a:pt x="243" y="863"/>
                </a:lnTo>
                <a:cubicBezTo>
                  <a:pt x="253" y="863"/>
                  <a:pt x="262" y="857"/>
                  <a:pt x="267" y="848"/>
                </a:cubicBezTo>
                <a:lnTo>
                  <a:pt x="313" y="756"/>
                </a:lnTo>
                <a:lnTo>
                  <a:pt x="265" y="732"/>
                </a:lnTo>
                <a:lnTo>
                  <a:pt x="226" y="809"/>
                </a:lnTo>
                <a:moveTo>
                  <a:pt x="80" y="161"/>
                </a:moveTo>
                <a:cubicBezTo>
                  <a:pt x="115" y="161"/>
                  <a:pt x="145" y="139"/>
                  <a:pt x="156" y="107"/>
                </a:cubicBezTo>
                <a:lnTo>
                  <a:pt x="226" y="107"/>
                </a:lnTo>
                <a:lnTo>
                  <a:pt x="251" y="158"/>
                </a:lnTo>
                <a:lnTo>
                  <a:pt x="298" y="131"/>
                </a:lnTo>
                <a:lnTo>
                  <a:pt x="267" y="69"/>
                </a:lnTo>
                <a:cubicBezTo>
                  <a:pt x="262" y="60"/>
                  <a:pt x="253" y="54"/>
                  <a:pt x="243" y="54"/>
                </a:cubicBezTo>
                <a:lnTo>
                  <a:pt x="156" y="54"/>
                </a:lnTo>
                <a:cubicBezTo>
                  <a:pt x="145" y="23"/>
                  <a:pt x="115" y="0"/>
                  <a:pt x="80" y="0"/>
                </a:cubicBezTo>
                <a:cubicBezTo>
                  <a:pt x="36" y="0"/>
                  <a:pt x="0" y="36"/>
                  <a:pt x="0" y="81"/>
                </a:cubicBezTo>
                <a:cubicBezTo>
                  <a:pt x="0" y="125"/>
                  <a:pt x="36" y="161"/>
                  <a:pt x="80" y="161"/>
                </a:cubicBezTo>
                <a:moveTo>
                  <a:pt x="688" y="107"/>
                </a:moveTo>
                <a:lnTo>
                  <a:pt x="759" y="107"/>
                </a:lnTo>
                <a:cubicBezTo>
                  <a:pt x="770" y="139"/>
                  <a:pt x="800" y="161"/>
                  <a:pt x="835" y="161"/>
                </a:cubicBezTo>
                <a:cubicBezTo>
                  <a:pt x="879" y="161"/>
                  <a:pt x="915" y="125"/>
                  <a:pt x="915" y="81"/>
                </a:cubicBezTo>
                <a:cubicBezTo>
                  <a:pt x="915" y="36"/>
                  <a:pt x="879" y="0"/>
                  <a:pt x="835" y="0"/>
                </a:cubicBezTo>
                <a:cubicBezTo>
                  <a:pt x="800" y="0"/>
                  <a:pt x="770" y="23"/>
                  <a:pt x="759" y="54"/>
                </a:cubicBezTo>
                <a:lnTo>
                  <a:pt x="672" y="54"/>
                </a:lnTo>
                <a:cubicBezTo>
                  <a:pt x="662" y="54"/>
                  <a:pt x="652" y="60"/>
                  <a:pt x="648" y="69"/>
                </a:cubicBezTo>
                <a:lnTo>
                  <a:pt x="617" y="131"/>
                </a:lnTo>
                <a:lnTo>
                  <a:pt x="663" y="158"/>
                </a:lnTo>
                <a:lnTo>
                  <a:pt x="688" y="107"/>
                </a:lnTo>
                <a:moveTo>
                  <a:pt x="835" y="755"/>
                </a:moveTo>
                <a:cubicBezTo>
                  <a:pt x="800" y="755"/>
                  <a:pt x="770" y="778"/>
                  <a:pt x="759" y="809"/>
                </a:cubicBezTo>
                <a:lnTo>
                  <a:pt x="688" y="809"/>
                </a:lnTo>
                <a:lnTo>
                  <a:pt x="650" y="732"/>
                </a:lnTo>
                <a:lnTo>
                  <a:pt x="602" y="756"/>
                </a:lnTo>
                <a:lnTo>
                  <a:pt x="648" y="848"/>
                </a:lnTo>
                <a:cubicBezTo>
                  <a:pt x="653" y="857"/>
                  <a:pt x="662" y="863"/>
                  <a:pt x="672" y="863"/>
                </a:cubicBezTo>
                <a:lnTo>
                  <a:pt x="759" y="863"/>
                </a:lnTo>
                <a:cubicBezTo>
                  <a:pt x="771" y="895"/>
                  <a:pt x="803" y="919"/>
                  <a:pt x="841" y="916"/>
                </a:cubicBezTo>
                <a:cubicBezTo>
                  <a:pt x="880" y="913"/>
                  <a:pt x="912" y="881"/>
                  <a:pt x="915" y="842"/>
                </a:cubicBezTo>
                <a:cubicBezTo>
                  <a:pt x="918" y="795"/>
                  <a:pt x="881" y="755"/>
                  <a:pt x="835" y="755"/>
                </a:cubicBezTo>
                <a:moveTo>
                  <a:pt x="755" y="295"/>
                </a:moveTo>
                <a:lnTo>
                  <a:pt x="485" y="429"/>
                </a:lnTo>
                <a:lnTo>
                  <a:pt x="485" y="755"/>
                </a:lnTo>
                <a:lnTo>
                  <a:pt x="755" y="621"/>
                </a:lnTo>
                <a:lnTo>
                  <a:pt x="755" y="295"/>
                </a:lnTo>
                <a:moveTo>
                  <a:pt x="470" y="111"/>
                </a:moveTo>
                <a:cubicBezTo>
                  <a:pt x="462" y="106"/>
                  <a:pt x="453" y="106"/>
                  <a:pt x="445" y="111"/>
                </a:cubicBezTo>
                <a:lnTo>
                  <a:pt x="192" y="251"/>
                </a:lnTo>
                <a:lnTo>
                  <a:pt x="457" y="383"/>
                </a:lnTo>
                <a:lnTo>
                  <a:pt x="722" y="251"/>
                </a:lnTo>
                <a:lnTo>
                  <a:pt x="470" y="111"/>
                </a:lnTo>
                <a:moveTo>
                  <a:pt x="161" y="604"/>
                </a:moveTo>
                <a:cubicBezTo>
                  <a:pt x="161" y="614"/>
                  <a:pt x="166" y="623"/>
                  <a:pt x="176" y="628"/>
                </a:cubicBezTo>
                <a:lnTo>
                  <a:pt x="431" y="755"/>
                </a:lnTo>
                <a:lnTo>
                  <a:pt x="431" y="429"/>
                </a:lnTo>
                <a:lnTo>
                  <a:pt x="161" y="295"/>
                </a:lnTo>
                <a:lnTo>
                  <a:pt x="161" y="60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Dashboard</a:t>
            </a:r>
            <a:endParaRPr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968BAC8B-EFE3-3080-A710-F4F36E4DC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95" y="1260764"/>
            <a:ext cx="7180410" cy="31702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Dashboard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5A740B2-50BE-D26C-350A-74E693AD1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556" y="1323109"/>
            <a:ext cx="6834887" cy="312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2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>
            <a:spLocks noGrp="1"/>
          </p:cNvSpPr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Demo!</a:t>
            </a:r>
            <a:endParaRPr dirty="0"/>
          </a:p>
        </p:txBody>
      </p:sp>
      <p:grpSp>
        <p:nvGrpSpPr>
          <p:cNvPr id="427" name="Google Shape;427;p43"/>
          <p:cNvGrpSpPr/>
          <p:nvPr/>
        </p:nvGrpSpPr>
        <p:grpSpPr>
          <a:xfrm>
            <a:off x="-9533" y="-7"/>
            <a:ext cx="2400327" cy="4724750"/>
            <a:chOff x="177793" y="152400"/>
            <a:chExt cx="2292357" cy="4512224"/>
          </a:xfrm>
        </p:grpSpPr>
        <p:pic>
          <p:nvPicPr>
            <p:cNvPr id="428" name="Google Shape;42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668274" y="3042918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43"/>
            <p:cNvPicPr preferRelativeResize="0"/>
            <p:nvPr/>
          </p:nvPicPr>
          <p:blipFill rotWithShape="1">
            <a:blip r:embed="rId4">
              <a:alphaModFix/>
            </a:blip>
            <a:srcRect l="50000" b="6183"/>
            <a:stretch/>
          </p:blipFill>
          <p:spPr>
            <a:xfrm rot="5400000">
              <a:off x="109262" y="220938"/>
              <a:ext cx="2429426" cy="2292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0" name="Google Shape;430;p43"/>
          <p:cNvGrpSpPr/>
          <p:nvPr/>
        </p:nvGrpSpPr>
        <p:grpSpPr>
          <a:xfrm>
            <a:off x="6528101" y="407029"/>
            <a:ext cx="2854722" cy="5057501"/>
            <a:chOff x="6456869" y="482600"/>
            <a:chExt cx="2726313" cy="4830008"/>
          </a:xfrm>
        </p:grpSpPr>
        <p:grpSp>
          <p:nvGrpSpPr>
            <p:cNvPr id="431" name="Google Shape;431;p43"/>
            <p:cNvGrpSpPr/>
            <p:nvPr/>
          </p:nvGrpSpPr>
          <p:grpSpPr>
            <a:xfrm>
              <a:off x="6673843" y="482600"/>
              <a:ext cx="2292357" cy="4512224"/>
              <a:chOff x="6667493" y="482600"/>
              <a:chExt cx="2292357" cy="4512224"/>
            </a:xfrm>
          </p:grpSpPr>
          <p:pic>
            <p:nvPicPr>
              <p:cNvPr id="432" name="Google Shape;432;p4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400000">
                <a:off x="7338144" y="1328667"/>
                <a:ext cx="2467773" cy="775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3" name="Google Shape;433;p43"/>
              <p:cNvPicPr preferRelativeResize="0"/>
              <p:nvPr/>
            </p:nvPicPr>
            <p:blipFill rotWithShape="1">
              <a:blip r:embed="rId4">
                <a:alphaModFix/>
              </a:blip>
              <a:srcRect l="50000" b="6183"/>
              <a:stretch/>
            </p:blipFill>
            <p:spPr>
              <a:xfrm rot="-5400000">
                <a:off x="6598955" y="2633936"/>
                <a:ext cx="2429426" cy="2292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4" name="Google Shape;434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2700000">
              <a:off x="6586139" y="3255544"/>
              <a:ext cx="2467772" cy="13878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C60DA1B9-781A-69A9-FA52-7E14658F3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193" y="2757208"/>
            <a:ext cx="6135614" cy="671100"/>
          </a:xfrm>
        </p:spPr>
        <p:txBody>
          <a:bodyPr/>
          <a:lstStyle/>
          <a:p>
            <a:r>
              <a:rPr lang="pt-BR" dirty="0"/>
              <a:t>https://doctors-accepted-reminder-dennis.trycloudflare.com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517</Words>
  <Application>Microsoft Office PowerPoint</Application>
  <PresentationFormat>Apresentação na tela (16:9)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Archivo</vt:lpstr>
      <vt:lpstr>Arial</vt:lpstr>
      <vt:lpstr>Nunito Light</vt:lpstr>
      <vt:lpstr>IBM Plex Mono</vt:lpstr>
      <vt:lpstr>Wingdings</vt:lpstr>
      <vt:lpstr>Bachelor in Robotics Engineering by Slidesgo</vt:lpstr>
      <vt:lpstr>Análise do Bolsa Família Construção de um modelo preditivo</vt:lpstr>
      <vt:lpstr>Objetivo do Projeto</vt:lpstr>
      <vt:lpstr>Mapeamento das bases de dados</vt:lpstr>
      <vt:lpstr>Início da exploração ...</vt:lpstr>
      <vt:lpstr>Criação de novas features</vt:lpstr>
      <vt:lpstr>Correlação: targets vs preditoras</vt:lpstr>
      <vt:lpstr>Modelagem preditiva</vt:lpstr>
      <vt:lpstr>Otimização do modelo</vt:lpstr>
      <vt:lpstr>Resultados</vt:lpstr>
      <vt:lpstr>Análise dos resíduos</vt:lpstr>
      <vt:lpstr>Apresentação do PowerPoint</vt:lpstr>
      <vt:lpstr>Considerações ...</vt:lpstr>
      <vt:lpstr>Dashboard</vt:lpstr>
      <vt:lpstr>Dashboard</vt:lpstr>
      <vt:lpstr>Demo!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do Bolsa Família Construção de um modelo prefitivo</dc:title>
  <cp:lastModifiedBy>Ulisses Mariano</cp:lastModifiedBy>
  <cp:revision>26</cp:revision>
  <dcterms:modified xsi:type="dcterms:W3CDTF">2026-03-23T21:00:17Z</dcterms:modified>
</cp:coreProperties>
</file>